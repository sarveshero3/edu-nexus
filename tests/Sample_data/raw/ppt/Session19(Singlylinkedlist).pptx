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4" r:id="rId2"/>
    <p:sldId id="27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9" r:id="rId16"/>
    <p:sldId id="280" r:id="rId17"/>
    <p:sldId id="281" r:id="rId18"/>
    <p:sldId id="270" r:id="rId19"/>
    <p:sldId id="271" r:id="rId20"/>
    <p:sldId id="272" r:id="rId21"/>
    <p:sldId id="282" r:id="rId22"/>
    <p:sldId id="273" r:id="rId23"/>
    <p:sldId id="274" r:id="rId24"/>
    <p:sldId id="276" r:id="rId25"/>
    <p:sldId id="283" r:id="rId26"/>
    <p:sldId id="285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61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4DA62-DA7C-4CDF-ADC5-A3C5FD337DAB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5D807-A1B7-4A52-9430-5AD475A5F1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48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 dirty="0" err="1"/>
              <a:t>Ms.Suman</a:t>
            </a:r>
            <a:r>
              <a:rPr lang="en-IN" dirty="0"/>
              <a:t>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24151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0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9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8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85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0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53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41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4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0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15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27B51-18B6-4D76-8C51-0EED2EAA226A}" type="datetimeFigureOut">
              <a:rPr lang="en-US" smtClean="0"/>
              <a:pPr/>
              <a:t>6/19/2024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B386F-0B89-425D-9A84-CCECF581F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1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nlinegdb.com/TtNXZC1fD" TargetMode="Externa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questions.examside.com/past-years/gate/question/pconsider-the-problem-of-reversing-a-singly-linked-list-t-gate-cse-theory-of-computation-finite-automata-and-regular-language-zpfpkf4re1g8xuff" TargetMode="Externa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9180512" cy="6885384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838200"/>
            <a:ext cx="6396065" cy="92087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81400"/>
            <a:ext cx="839042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i="1" kern="1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Dr.Swati</a:t>
            </a:r>
            <a:r>
              <a:rPr lang="en-US" sz="2400" i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Ms.Suman &amp; Ms </a:t>
            </a:r>
            <a:r>
              <a:rPr lang="en-US" sz="2400" i="1" kern="1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Neetu</a:t>
            </a:r>
            <a:endParaRPr lang="en-US" sz="2400" kern="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SzPct val="25000"/>
            </a:pPr>
            <a:r>
              <a:rPr lang="en-US" sz="2400" i="1" kern="100" dirty="0">
                <a:cs typeface="Times New Roman" panose="02020603050405020304" pitchFamily="18" charset="0"/>
                <a:sym typeface="Arial"/>
              </a:rPr>
              <a:t> Assistant Professor </a:t>
            </a:r>
          </a:p>
          <a:p>
            <a:pPr lvl="0" algn="ctr">
              <a:buSzPct val="25000"/>
            </a:pPr>
            <a:r>
              <a:rPr lang="en-US" sz="2400" i="1" kern="100" dirty="0">
                <a:cs typeface="Times New Roman" panose="02020603050405020304" pitchFamily="18" charset="0"/>
                <a:sym typeface="Arial"/>
              </a:rPr>
              <a:t>School of Engineering &amp; Technology (SOET)</a:t>
            </a:r>
          </a:p>
          <a:p>
            <a:pPr lvl="0" algn="ctr">
              <a:buSzPct val="25000"/>
            </a:pPr>
            <a:r>
              <a:rPr lang="en-US" sz="2400" i="1" kern="100" dirty="0">
                <a:cs typeface="Times New Roman" panose="02020603050405020304" pitchFamily="18" charset="0"/>
                <a:sym typeface="Arial"/>
              </a:rPr>
              <a:t>K.R. MANGALAM University </a:t>
            </a:r>
            <a:endParaRPr lang="en-IN" sz="2400" i="1" dirty="0"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BDD341-9065-6500-56A4-3D760AE6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71" y="2102822"/>
            <a:ext cx="84969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600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endParaRPr lang="en-IN" sz="36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9D8B597-3B07-52D6-2F94-7B4B11AB3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53" y="2933819"/>
            <a:ext cx="84969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ENCS205</a:t>
            </a:r>
            <a:endParaRPr lang="en-IN" sz="2400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257800"/>
            <a:ext cx="518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UNIT-2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</a:rPr>
              <a:t>SINGLY LINKED LIST</a:t>
            </a:r>
          </a:p>
          <a:p>
            <a:pPr algn="ctr"/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178239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Recap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1480231"/>
            <a:ext cx="8610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Definition</a:t>
            </a:r>
            <a:r>
              <a:rPr lang="en-US" sz="2400" dirty="0"/>
              <a:t>: Linked list is a linear data structure with nodes containing data and pointers to the next node.</a:t>
            </a:r>
          </a:p>
          <a:p>
            <a:pPr algn="just"/>
            <a:r>
              <a:rPr lang="en-US" sz="2400" b="1" dirty="0"/>
              <a:t>Components</a:t>
            </a:r>
            <a:r>
              <a:rPr lang="en-US" sz="2400" dirty="0"/>
              <a:t>: Nodes, head pointer (points to first node), optional tail pointer (points to last node).</a:t>
            </a:r>
          </a:p>
          <a:p>
            <a:pPr algn="just"/>
            <a:r>
              <a:rPr lang="en-US" sz="2400" b="1" dirty="0"/>
              <a:t>Representation</a:t>
            </a:r>
            <a:r>
              <a:rPr lang="en-US" sz="2400" dirty="0"/>
              <a:t>: Nodes linked via pointers, dynamic memory allocation for nodes, head pointer for access.</a:t>
            </a:r>
          </a:p>
          <a:p>
            <a:pPr algn="just"/>
            <a:r>
              <a:rPr lang="en-US" sz="2400" b="1" dirty="0"/>
              <a:t>Advantages</a:t>
            </a:r>
            <a:r>
              <a:rPr lang="en-US" sz="2400" dirty="0"/>
              <a:t>: Dynamic memory allocation, efficient insertion/deletion.</a:t>
            </a:r>
          </a:p>
          <a:p>
            <a:pPr algn="just"/>
            <a:r>
              <a:rPr lang="en-US" sz="2400" b="1" dirty="0"/>
              <a:t>Disadvantages</a:t>
            </a:r>
            <a:r>
              <a:rPr lang="en-US" sz="2400" dirty="0"/>
              <a:t>: Higher memory overhead, no direct access to elements, potentially slower access compared to arrays.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693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  <a:r>
              <a:rPr lang="en-US" sz="3600" b="1"/>
              <a:t>Sessions 19 </a:t>
            </a:r>
            <a:r>
              <a:rPr lang="en-US" sz="3600" b="1" dirty="0"/>
              <a:t>Outlook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1752600" y="1676692"/>
            <a:ext cx="4662837" cy="3200400"/>
          </a:xfrm>
          <a:prstGeom prst="rect">
            <a:avLst/>
          </a:prstGeom>
        </p:spPr>
        <p:txBody>
          <a:bodyPr/>
          <a:lstStyle/>
          <a:p>
            <a:pPr marL="800100" lvl="1" indent="-342900" rtl="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400" dirty="0"/>
              <a:t>Types of linked list</a:t>
            </a:r>
            <a:endParaRPr lang="en-IN" sz="2400" dirty="0"/>
          </a:p>
          <a:p>
            <a:pPr marL="800100" lvl="1" indent="-342900" rtl="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400" dirty="0"/>
              <a:t> Singly linked list</a:t>
            </a:r>
          </a:p>
          <a:p>
            <a:pPr marL="800100" lvl="1" indent="-342900" rtl="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400" dirty="0"/>
              <a:t>operations</a:t>
            </a:r>
            <a:endParaRPr lang="en-IN" sz="2400" dirty="0"/>
          </a:p>
          <a:p>
            <a:pPr marL="800100" lvl="1" indent="-342900" rtl="0">
              <a:lnSpc>
                <a:spcPct val="150000"/>
              </a:lnSpc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2400" dirty="0"/>
              <a:t>Inserting and Deleting a Node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2277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Types of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80231"/>
            <a:ext cx="8153400" cy="4082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362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Types of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95"/>
          <a:stretch/>
        </p:blipFill>
        <p:spPr bwMode="auto">
          <a:xfrm>
            <a:off x="179512" y="1121935"/>
            <a:ext cx="8643513" cy="5023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302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Identify</a:t>
            </a:r>
            <a:r>
              <a:rPr lang="en-US" sz="3600" dirty="0"/>
              <a:t>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66628"/>
            <a:ext cx="7467600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998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Identify type of link list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80230"/>
            <a:ext cx="8077200" cy="4539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820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Identify type of link list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35" y="1445062"/>
            <a:ext cx="83820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7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Identify type of link list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9" t="9413" b="40641"/>
          <a:stretch/>
        </p:blipFill>
        <p:spPr bwMode="auto">
          <a:xfrm>
            <a:off x="942316" y="1666628"/>
            <a:ext cx="7010400" cy="421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095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Singly linked list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66628"/>
            <a:ext cx="7315200" cy="2752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704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b="1" dirty="0">
                <a:solidFill>
                  <a:srgbClr val="FF0000"/>
                </a:solidFill>
              </a:rPr>
              <a:t>Operations on Singly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89" y="1534443"/>
            <a:ext cx="8124085" cy="170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50" y="3962400"/>
            <a:ext cx="8137225" cy="1920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87288" y="1220128"/>
            <a:ext cx="198120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Insertion </a:t>
            </a:r>
            <a:endParaRPr lang="en-IN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09600" y="3233743"/>
            <a:ext cx="2438400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Deletion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8851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0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b="1" dirty="0">
                <a:solidFill>
                  <a:srgbClr val="FF0000"/>
                </a:solidFill>
              </a:rPr>
              <a:t>Implementation of Single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259175"/>
            <a:ext cx="8153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we need to create a start node, used to create and access other nodes in the linked list. The following structure definition will do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Creating a structure with one data item and a next pointer, which will be pointing  to next node of the list. This is called as self-referential structure.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400" dirty="0"/>
              <a:t>Initialise the start pointer to be NULL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67499"/>
            <a:ext cx="7832425" cy="2423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932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0" y="-27384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b="1" dirty="0">
                <a:solidFill>
                  <a:srgbClr val="FF0000"/>
                </a:solidFill>
              </a:rPr>
              <a:t>Creating a node for Single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75" y="1219200"/>
            <a:ext cx="8461101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06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b="1" dirty="0">
                <a:solidFill>
                  <a:srgbClr val="FF0000"/>
                </a:solidFill>
              </a:rPr>
              <a:t>Singly Linked List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653160"/>
              </p:ext>
            </p:extLst>
          </p:nvPr>
        </p:nvGraphicFramePr>
        <p:xfrm>
          <a:off x="72006" y="1905000"/>
          <a:ext cx="8788550" cy="297205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47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8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88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88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88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57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19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924274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+mn-lt"/>
                        </a:rPr>
                        <a:t>Data Structure</a:t>
                      </a:r>
                      <a:endParaRPr lang="en-IN" sz="18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0465" marR="100465" marT="100465" marB="100465"/>
                </a:tc>
                <a:tc gridSpan="8"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+mn-lt"/>
                        </a:rPr>
                        <a:t>Time Complexity</a:t>
                      </a:r>
                      <a:endParaRPr lang="en-IN" sz="18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0465" marR="100465" marT="100465" marB="100465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  <a:latin typeface="+mn-lt"/>
                        </a:rPr>
                        <a:t>Space Complexity</a:t>
                      </a:r>
                      <a:endParaRPr lang="en-IN" sz="18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00465" marR="100465" marT="100465" marB="10046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68">
                <a:tc>
                  <a:txBody>
                    <a:bodyPr/>
                    <a:lstStyle/>
                    <a:p>
                      <a:pPr algn="just" fontAlgn="t"/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 gridSpan="4"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effectLst/>
                          <a:latin typeface="+mn-lt"/>
                        </a:rPr>
                        <a:t>Average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effectLst/>
                          <a:latin typeface="+mn-lt"/>
                        </a:rPr>
                        <a:t>Worst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effectLst/>
                          <a:latin typeface="+mn-lt"/>
                        </a:rPr>
                        <a:t>Worst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182">
                <a:tc>
                  <a:txBody>
                    <a:bodyPr/>
                    <a:lstStyle/>
                    <a:p>
                      <a:pPr algn="just" fontAlgn="t"/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Access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Search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Insertion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effectLst/>
                          <a:latin typeface="+mn-lt"/>
                        </a:rPr>
                        <a:t>Deletion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effectLst/>
                          <a:latin typeface="+mn-lt"/>
                        </a:rPr>
                        <a:t>Access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effectLst/>
                          <a:latin typeface="+mn-lt"/>
                        </a:rPr>
                        <a:t>Search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effectLst/>
                          <a:latin typeface="+mn-lt"/>
                        </a:rPr>
                        <a:t>Insertion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effectLst/>
                          <a:latin typeface="+mn-lt"/>
                        </a:rPr>
                        <a:t>Deletion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97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>
                          <a:effectLst/>
                          <a:latin typeface="+mn-lt"/>
                        </a:rPr>
                        <a:t>Singly Linked List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>
                          <a:effectLst/>
                          <a:latin typeface="+mn-lt"/>
                        </a:rPr>
                        <a:t>θ(</a:t>
                      </a:r>
                      <a:r>
                        <a:rPr lang="en-IN" sz="1800">
                          <a:effectLst/>
                          <a:latin typeface="+mn-lt"/>
                        </a:rPr>
                        <a:t>n)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>
                          <a:effectLst/>
                          <a:latin typeface="+mn-lt"/>
                        </a:rPr>
                        <a:t>θ(</a:t>
                      </a:r>
                      <a:r>
                        <a:rPr lang="en-IN" sz="1800">
                          <a:effectLst/>
                          <a:latin typeface="+mn-lt"/>
                        </a:rPr>
                        <a:t>n)</a:t>
                      </a:r>
                      <a:endParaRPr lang="en-IN" sz="180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 dirty="0">
                          <a:effectLst/>
                          <a:latin typeface="+mn-lt"/>
                        </a:rPr>
                        <a:t>θ(1)</a:t>
                      </a:r>
                      <a:endParaRPr lang="el-GR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l-GR" sz="1800" dirty="0">
                          <a:effectLst/>
                          <a:latin typeface="+mn-lt"/>
                        </a:rPr>
                        <a:t>θ(1)</a:t>
                      </a:r>
                      <a:endParaRPr lang="el-GR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O(n)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O(n)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O(1)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O(1)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800" dirty="0">
                          <a:effectLst/>
                          <a:latin typeface="+mn-lt"/>
                        </a:rPr>
                        <a:t>O(n)</a:t>
                      </a:r>
                      <a:endParaRPr lang="en-IN" sz="1800" dirty="0">
                        <a:solidFill>
                          <a:srgbClr val="333333"/>
                        </a:solidFill>
                        <a:effectLst/>
                        <a:latin typeface="+mn-lt"/>
                      </a:endParaRPr>
                    </a:p>
                  </a:txBody>
                  <a:tcPr marL="66976" marR="66976" marT="66976" marB="669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82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b="1" dirty="0">
                <a:solidFill>
                  <a:srgbClr val="FF0000"/>
                </a:solidFill>
              </a:rPr>
              <a:t>Representation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38361"/>
            <a:ext cx="85944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Node Linking: </a:t>
            </a:r>
            <a:r>
              <a:rPr lang="en-US" sz="2400" dirty="0"/>
              <a:t>Nodes are linked sequentially through pointers. Each node's pointer points to the next node in the sequence, forming the linkage.</a:t>
            </a:r>
          </a:p>
          <a:p>
            <a:pPr algn="just"/>
            <a:r>
              <a:rPr lang="en-US" sz="2400" dirty="0"/>
              <a:t>Memory Allocation: Typically, dynamic memory allocation is used for node creation, allowing nodes to be created and destroyed as needed.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Access: </a:t>
            </a:r>
            <a:r>
              <a:rPr lang="en-US" sz="2400" dirty="0"/>
              <a:t>Access to elements in a singly linked list starts from the head pointer. To access or manipulate data in a specific node, traversal through the list from the head pointer is necessary.</a:t>
            </a:r>
          </a:p>
        </p:txBody>
      </p:sp>
    </p:spTree>
    <p:extLst>
      <p:ext uri="{BB962C8B-B14F-4D97-AF65-F5344CB8AC3E}">
        <p14:creationId xmlns:p14="http://schemas.microsoft.com/office/powerpoint/2010/main" val="99016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b="1" dirty="0">
                <a:solidFill>
                  <a:srgbClr val="FF0000"/>
                </a:solidFill>
              </a:rPr>
              <a:t>Advantages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38361"/>
            <a:ext cx="8594425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Efficient Insertion and Deletion</a:t>
            </a:r>
            <a:r>
              <a:rPr lang="en-US" sz="2400" dirty="0"/>
              <a:t>: Adding or removing elements at the beginning or middle of the list is efficient, requiring only adjustments to pointers.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Dynamic Size</a:t>
            </a:r>
            <a:r>
              <a:rPr lang="en-US" sz="2400" dirty="0"/>
              <a:t>: Singly linked lists can grow or shrink dynamically, as nodes can be added or removed without requiring contiguous memory allocation.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/>
              <a:t>Flexibility</a:t>
            </a:r>
            <a:r>
              <a:rPr lang="en-US" sz="2400" dirty="0"/>
              <a:t>: Singly linked lists have no fixed size limitations, offering flexibility in managing varying amounts of data</a:t>
            </a:r>
          </a:p>
        </p:txBody>
      </p:sp>
    </p:spTree>
    <p:extLst>
      <p:ext uri="{BB962C8B-B14F-4D97-AF65-F5344CB8AC3E}">
        <p14:creationId xmlns:p14="http://schemas.microsoft.com/office/powerpoint/2010/main" val="2020710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b="1" dirty="0">
                <a:solidFill>
                  <a:srgbClr val="FF0000"/>
                </a:solidFill>
              </a:rPr>
              <a:t>Disadvantages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338361"/>
            <a:ext cx="859442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effectLst/>
              </a:rPr>
              <a:t>No Direct Access</a:t>
            </a:r>
            <a:r>
              <a:rPr lang="en-US" sz="2000" dirty="0">
                <a:effectLst/>
              </a:rPr>
              <a:t>: Access to specific elements in the list requires traversal from the head pointer, making direct access inefficient.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effectLst/>
              </a:rPr>
              <a:t>Extra Memory Overhead</a:t>
            </a:r>
            <a:r>
              <a:rPr lang="en-US" sz="2000" dirty="0">
                <a:effectLst/>
              </a:rPr>
              <a:t>: Each node in the list requires additional memory for storing pointers, leading to higher memory overhead compared to arrays.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effectLst/>
              </a:rPr>
              <a:t>Inefficient Reverse Traversal</a:t>
            </a:r>
            <a:r>
              <a:rPr lang="en-US" sz="2000" dirty="0">
                <a:effectLst/>
              </a:rPr>
              <a:t>: Singly linked lists are inefficient for operations requiring access to nodes in reverse order, as they don't have pointers to previous nodes.</a:t>
            </a:r>
          </a:p>
          <a:p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947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b="1" dirty="0">
                <a:solidFill>
                  <a:srgbClr val="FF0000"/>
                </a:solidFill>
              </a:rPr>
              <a:t>Pseudo-code for insertion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1676400" y="1455821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400" dirty="0" err="1"/>
              <a:t>typedef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struct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nd</a:t>
            </a:r>
            <a:r>
              <a:rPr lang="en-US" altLang="en-US" sz="2400" dirty="0"/>
              <a:t> {</a:t>
            </a:r>
          </a:p>
          <a:p>
            <a:r>
              <a:rPr lang="en-US" altLang="en-US" sz="2400" dirty="0"/>
              <a:t>   </a:t>
            </a:r>
            <a:r>
              <a:rPr lang="en-US" altLang="en-US" sz="2400" dirty="0" err="1"/>
              <a:t>struct</a:t>
            </a:r>
            <a:r>
              <a:rPr lang="en-US" altLang="en-US" sz="2400" dirty="0"/>
              <a:t> item data;</a:t>
            </a:r>
          </a:p>
          <a:p>
            <a:r>
              <a:rPr lang="en-US" altLang="en-US" sz="2400" dirty="0"/>
              <a:t>   </a:t>
            </a:r>
            <a:r>
              <a:rPr lang="en-US" altLang="en-US" sz="2400" dirty="0" err="1"/>
              <a:t>struct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nd</a:t>
            </a:r>
            <a:r>
              <a:rPr lang="en-US" altLang="en-US" sz="2400" dirty="0"/>
              <a:t> * next;</a:t>
            </a:r>
          </a:p>
          <a:p>
            <a:r>
              <a:rPr lang="en-US" altLang="en-US" sz="2400" dirty="0"/>
              <a:t>   } node;</a:t>
            </a:r>
          </a:p>
          <a:p>
            <a:endParaRPr lang="en-US" altLang="en-US" sz="2400" dirty="0"/>
          </a:p>
          <a:p>
            <a:r>
              <a:rPr lang="en-US" altLang="en-US" sz="2400" dirty="0"/>
              <a:t>void insert(node *</a:t>
            </a:r>
            <a:r>
              <a:rPr lang="en-US" altLang="en-US" sz="2400" dirty="0" err="1"/>
              <a:t>curr</a:t>
            </a:r>
            <a:r>
              <a:rPr lang="en-US" altLang="en-US" sz="2400" dirty="0"/>
              <a:t>)</a:t>
            </a:r>
          </a:p>
          <a:p>
            <a:r>
              <a:rPr lang="en-US" altLang="en-US" sz="2400" dirty="0"/>
              <a:t>{</a:t>
            </a:r>
          </a:p>
          <a:p>
            <a:r>
              <a:rPr lang="en-US" altLang="en-US" sz="2400" dirty="0"/>
              <a:t>node * </a:t>
            </a:r>
            <a:r>
              <a:rPr lang="en-US" altLang="en-US" sz="2400" dirty="0" err="1"/>
              <a:t>tmp</a:t>
            </a:r>
            <a:r>
              <a:rPr lang="en-US" altLang="en-US" sz="2400" dirty="0"/>
              <a:t>;</a:t>
            </a:r>
          </a:p>
          <a:p>
            <a:endParaRPr lang="en-US" altLang="en-US" sz="2400" dirty="0"/>
          </a:p>
          <a:p>
            <a:r>
              <a:rPr lang="en-US" altLang="en-US" sz="2400" dirty="0" err="1"/>
              <a:t>tmp</a:t>
            </a:r>
            <a:r>
              <a:rPr lang="en-US" altLang="en-US" sz="2400" dirty="0"/>
              <a:t>=(node *) </a:t>
            </a:r>
            <a:r>
              <a:rPr lang="en-US" altLang="en-US" sz="2400" dirty="0" err="1"/>
              <a:t>malloc</a:t>
            </a:r>
            <a:r>
              <a:rPr lang="en-US" altLang="en-US" sz="2400" dirty="0"/>
              <a:t>(</a:t>
            </a:r>
            <a:r>
              <a:rPr lang="en-US" altLang="en-US" sz="2400" dirty="0" err="1"/>
              <a:t>sizeof</a:t>
            </a:r>
            <a:r>
              <a:rPr lang="en-US" altLang="en-US" sz="2400" dirty="0"/>
              <a:t>(node));</a:t>
            </a:r>
          </a:p>
          <a:p>
            <a:r>
              <a:rPr lang="en-US" altLang="en-US" sz="2400" dirty="0" err="1"/>
              <a:t>tmp</a:t>
            </a:r>
            <a:r>
              <a:rPr lang="en-US" altLang="en-US" sz="2400" dirty="0"/>
              <a:t>-&gt;next=</a:t>
            </a:r>
            <a:r>
              <a:rPr lang="en-US" altLang="en-US" sz="2400" dirty="0" err="1"/>
              <a:t>curr</a:t>
            </a:r>
            <a:r>
              <a:rPr lang="en-US" altLang="en-US" sz="2400" dirty="0"/>
              <a:t>-&gt;next;</a:t>
            </a:r>
          </a:p>
          <a:p>
            <a:r>
              <a:rPr lang="en-US" altLang="en-US" sz="2400" dirty="0" err="1"/>
              <a:t>curr</a:t>
            </a:r>
            <a:r>
              <a:rPr lang="en-US" altLang="en-US" sz="2400" dirty="0"/>
              <a:t>-&gt;next=</a:t>
            </a:r>
            <a:r>
              <a:rPr lang="en-US" altLang="en-US" sz="2400" dirty="0" err="1"/>
              <a:t>tmp</a:t>
            </a:r>
            <a:r>
              <a:rPr lang="en-US" altLang="en-US" sz="2400" dirty="0"/>
              <a:t>;</a:t>
            </a:r>
          </a:p>
          <a:p>
            <a:r>
              <a:rPr lang="en-US" alt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111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IN" sz="3600" b="1" dirty="0">
                <a:solidFill>
                  <a:srgbClr val="FF0000"/>
                </a:solidFill>
              </a:rPr>
              <a:t>Pseudo-code for deletion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219200"/>
            <a:ext cx="83277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76400" y="1455821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400" dirty="0" err="1"/>
              <a:t>typedef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struct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nd</a:t>
            </a:r>
            <a:r>
              <a:rPr lang="en-US" altLang="en-US" sz="2400" dirty="0"/>
              <a:t> {</a:t>
            </a:r>
          </a:p>
          <a:p>
            <a:r>
              <a:rPr lang="en-US" altLang="en-US" sz="2400" dirty="0"/>
              <a:t>   </a:t>
            </a:r>
            <a:r>
              <a:rPr lang="en-US" altLang="en-US" sz="2400" dirty="0" err="1"/>
              <a:t>struct</a:t>
            </a:r>
            <a:r>
              <a:rPr lang="en-US" altLang="en-US" sz="2400" dirty="0"/>
              <a:t> item data;</a:t>
            </a:r>
          </a:p>
          <a:p>
            <a:r>
              <a:rPr lang="en-US" altLang="en-US" sz="2400" dirty="0"/>
              <a:t>   </a:t>
            </a:r>
            <a:r>
              <a:rPr lang="en-US" altLang="en-US" sz="2400" dirty="0" err="1"/>
              <a:t>struct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nd</a:t>
            </a:r>
            <a:r>
              <a:rPr lang="en-US" altLang="en-US" sz="2400" dirty="0"/>
              <a:t> * next;</a:t>
            </a:r>
          </a:p>
          <a:p>
            <a:r>
              <a:rPr lang="en-US" altLang="en-US" sz="2400" dirty="0"/>
              <a:t>   } node;</a:t>
            </a:r>
          </a:p>
          <a:p>
            <a:endParaRPr lang="en-US" altLang="en-US" sz="2400" dirty="0"/>
          </a:p>
          <a:p>
            <a:r>
              <a:rPr lang="en-US" altLang="en-US" sz="2400" dirty="0"/>
              <a:t>void delete(node *</a:t>
            </a:r>
            <a:r>
              <a:rPr lang="en-US" altLang="en-US" sz="2400" dirty="0" err="1"/>
              <a:t>curr</a:t>
            </a:r>
            <a:r>
              <a:rPr lang="en-US" altLang="en-US" sz="2400" dirty="0"/>
              <a:t>)</a:t>
            </a:r>
          </a:p>
          <a:p>
            <a:r>
              <a:rPr lang="en-US" altLang="en-US" sz="2400" dirty="0"/>
              <a:t>{</a:t>
            </a:r>
          </a:p>
          <a:p>
            <a:r>
              <a:rPr lang="en-US" altLang="en-US" sz="2400" dirty="0"/>
              <a:t>node * </a:t>
            </a:r>
            <a:r>
              <a:rPr lang="en-US" altLang="en-US" sz="2400" dirty="0" err="1"/>
              <a:t>tmp</a:t>
            </a:r>
            <a:r>
              <a:rPr lang="en-US" altLang="en-US" sz="2400" dirty="0"/>
              <a:t>;</a:t>
            </a:r>
          </a:p>
          <a:p>
            <a:r>
              <a:rPr lang="en-US" altLang="en-US" sz="2400" dirty="0"/>
              <a:t> </a:t>
            </a:r>
            <a:r>
              <a:rPr lang="en-US" altLang="en-US" sz="2400" dirty="0" err="1"/>
              <a:t>tmp</a:t>
            </a:r>
            <a:r>
              <a:rPr lang="en-US" altLang="en-US" sz="2400" dirty="0"/>
              <a:t>=</a:t>
            </a:r>
            <a:r>
              <a:rPr lang="en-US" altLang="en-US" sz="2400" dirty="0" err="1"/>
              <a:t>curr</a:t>
            </a:r>
            <a:r>
              <a:rPr lang="en-US" altLang="en-US" sz="2400" dirty="0"/>
              <a:t>-&gt;next;</a:t>
            </a:r>
          </a:p>
          <a:p>
            <a:r>
              <a:rPr lang="en-US" altLang="en-US" sz="2400" dirty="0" err="1"/>
              <a:t>curr</a:t>
            </a:r>
            <a:r>
              <a:rPr lang="en-US" altLang="en-US" sz="2400" dirty="0"/>
              <a:t>-&gt;next=</a:t>
            </a:r>
            <a:r>
              <a:rPr lang="en-US" altLang="en-US" sz="2400" dirty="0" err="1"/>
              <a:t>tmp</a:t>
            </a:r>
            <a:r>
              <a:rPr lang="en-US" altLang="en-US" sz="2400" dirty="0"/>
              <a:t>-&gt;next;</a:t>
            </a:r>
          </a:p>
          <a:p>
            <a:r>
              <a:rPr lang="en-US" altLang="en-US" sz="2400" dirty="0"/>
              <a:t>free(</a:t>
            </a:r>
            <a:r>
              <a:rPr lang="en-US" altLang="en-US" sz="2400" dirty="0" err="1"/>
              <a:t>tmp</a:t>
            </a:r>
            <a:r>
              <a:rPr lang="en-US" altLang="en-US" sz="2400" dirty="0"/>
              <a:t>);</a:t>
            </a:r>
          </a:p>
          <a:p>
            <a:r>
              <a:rPr lang="en-US" alt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4304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altLang="en-US" sz="3600" dirty="0"/>
              <a:t>In essence ...</a:t>
            </a:r>
            <a:endParaRPr lang="en-IN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1" y="1321908"/>
            <a:ext cx="813722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altLang="en-US" sz="2400" dirty="0"/>
              <a:t>For insertion: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altLang="en-US" sz="2400" dirty="0"/>
              <a:t>A record is created holding the new item.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altLang="en-US" sz="2400" dirty="0"/>
              <a:t>The </a:t>
            </a:r>
            <a:r>
              <a:rPr lang="en-IN" altLang="en-US" sz="2400" dirty="0">
                <a:solidFill>
                  <a:srgbClr val="006CB4"/>
                </a:solidFill>
              </a:rPr>
              <a:t>next </a:t>
            </a:r>
            <a:r>
              <a:rPr lang="en-IN" altLang="en-US" sz="2400" dirty="0"/>
              <a:t>pointer of the new record is set to link it to the item which is to follow it in the list.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altLang="en-US" sz="2400" dirty="0"/>
              <a:t>The </a:t>
            </a:r>
            <a:r>
              <a:rPr lang="en-IN" altLang="en-US" sz="2400" dirty="0">
                <a:solidFill>
                  <a:srgbClr val="006CB4"/>
                </a:solidFill>
              </a:rPr>
              <a:t>next p</a:t>
            </a:r>
            <a:r>
              <a:rPr lang="en-IN" altLang="en-US" sz="2400" dirty="0"/>
              <a:t>ointer of the item which is to precede it must be modified to point to the new item.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altLang="en-US" sz="2400" dirty="0"/>
          </a:p>
          <a:p>
            <a:r>
              <a:rPr lang="en-IN" altLang="en-US" sz="2400" dirty="0"/>
              <a:t>For deletion: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altLang="en-US" sz="2400" dirty="0"/>
              <a:t>The next pointer of the item immediately preceding the one to be deleted is altered, and made to point to the item following the deleted item.</a:t>
            </a:r>
          </a:p>
        </p:txBody>
      </p:sp>
    </p:spTree>
    <p:extLst>
      <p:ext uri="{BB962C8B-B14F-4D97-AF65-F5344CB8AC3E}">
        <p14:creationId xmlns:p14="http://schemas.microsoft.com/office/powerpoint/2010/main" val="316738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-76200" y="1348046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65950"/>
            <a:ext cx="8751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Insertion and deletion in liked list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1" y="1321908"/>
            <a:ext cx="813722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000" dirty="0"/>
              <a:t>/ Function to insert a new node. </a:t>
            </a:r>
          </a:p>
          <a:p>
            <a:pPr fontAlgn="base"/>
            <a:r>
              <a:rPr lang="en-US" sz="2000" dirty="0"/>
              <a:t>void </a:t>
            </a:r>
            <a:r>
              <a:rPr lang="en-US" sz="2000" dirty="0" err="1"/>
              <a:t>Linkedlist</a:t>
            </a:r>
            <a:r>
              <a:rPr lang="en-US" sz="2000" dirty="0"/>
              <a:t>::</a:t>
            </a:r>
            <a:r>
              <a:rPr lang="en-US" sz="2000" dirty="0" err="1"/>
              <a:t>insertNode</a:t>
            </a:r>
            <a:r>
              <a:rPr lang="en-US" sz="2000" dirty="0"/>
              <a:t>(</a:t>
            </a:r>
            <a:r>
              <a:rPr lang="en-US" sz="2000" dirty="0" err="1"/>
              <a:t>int</a:t>
            </a:r>
            <a:r>
              <a:rPr lang="en-US" sz="2000" dirty="0"/>
              <a:t> data) </a:t>
            </a:r>
          </a:p>
          <a:p>
            <a:pPr fontAlgn="base"/>
            <a:r>
              <a:rPr lang="en-US" sz="2000" dirty="0"/>
              <a:t>{ </a:t>
            </a:r>
          </a:p>
          <a:p>
            <a:pPr fontAlgn="base"/>
            <a:r>
              <a:rPr lang="en-US" sz="2000" dirty="0"/>
              <a:t>    // Create the new Node. </a:t>
            </a:r>
          </a:p>
          <a:p>
            <a:pPr fontAlgn="base"/>
            <a:r>
              <a:rPr lang="en-US" sz="2000" dirty="0"/>
              <a:t>    Node* </a:t>
            </a:r>
            <a:r>
              <a:rPr lang="en-US" sz="2000" dirty="0" err="1"/>
              <a:t>newNode</a:t>
            </a:r>
            <a:r>
              <a:rPr lang="en-US" sz="2000" dirty="0"/>
              <a:t> = new Node(data); </a:t>
            </a:r>
          </a:p>
          <a:p>
            <a:pPr fontAlgn="base"/>
            <a:r>
              <a:rPr lang="en-US" sz="2000" dirty="0"/>
              <a:t>  </a:t>
            </a:r>
          </a:p>
          <a:p>
            <a:pPr fontAlgn="base"/>
            <a:r>
              <a:rPr lang="en-US" sz="2000" dirty="0"/>
              <a:t>    // Assign to head </a:t>
            </a:r>
          </a:p>
          <a:p>
            <a:pPr fontAlgn="base"/>
            <a:r>
              <a:rPr lang="en-US" sz="2000" dirty="0"/>
              <a:t>    if (head == NULL) { </a:t>
            </a:r>
          </a:p>
          <a:p>
            <a:pPr fontAlgn="base"/>
            <a:r>
              <a:rPr lang="en-US" sz="2000" dirty="0"/>
              <a:t>        head = </a:t>
            </a:r>
            <a:r>
              <a:rPr lang="en-US" sz="2000" dirty="0" err="1"/>
              <a:t>newNode</a:t>
            </a:r>
            <a:r>
              <a:rPr lang="en-US" sz="2000" dirty="0"/>
              <a:t>; </a:t>
            </a:r>
          </a:p>
          <a:p>
            <a:pPr fontAlgn="base"/>
            <a:r>
              <a:rPr lang="en-US" sz="2000" dirty="0"/>
              <a:t>        return; </a:t>
            </a:r>
          </a:p>
          <a:p>
            <a:pPr fontAlgn="base"/>
            <a:r>
              <a:rPr lang="en-US" sz="2000" dirty="0"/>
              <a:t>    } </a:t>
            </a:r>
          </a:p>
          <a:p>
            <a:pPr fontAlgn="base"/>
            <a:r>
              <a:rPr lang="en-US" sz="2000" dirty="0"/>
              <a:t>  </a:t>
            </a:r>
          </a:p>
          <a:p>
            <a:pPr fontAlgn="base"/>
            <a:r>
              <a:rPr lang="en-US" sz="2000" dirty="0"/>
              <a:t>   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5316" y="4923443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Complete code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89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sz="3600" dirty="0">
                <a:solidFill>
                  <a:srgbClr val="FF0000"/>
                </a:solidFill>
              </a:rPr>
              <a:t>Test Your self 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1" y="1321908"/>
            <a:ext cx="813722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1. As we have the memory address of Nodes can we traverse backwards in a linked list ?</a:t>
            </a:r>
          </a:p>
          <a:p>
            <a:r>
              <a:rPr lang="en-IN" sz="2400" dirty="0"/>
              <a:t> a: Yes, we can.</a:t>
            </a:r>
          </a:p>
          <a:p>
            <a:r>
              <a:rPr lang="en-IN" sz="2400" dirty="0"/>
              <a:t> b: No, we can’t.</a:t>
            </a:r>
          </a:p>
          <a:p>
            <a:r>
              <a:rPr lang="en-IN" sz="2400" b="1" dirty="0"/>
              <a:t>2. What are the advantages of a linked list?</a:t>
            </a:r>
          </a:p>
          <a:p>
            <a:r>
              <a:rPr lang="en-IN" sz="2400" dirty="0"/>
              <a:t> a: Dynamic Memory Allocation</a:t>
            </a:r>
          </a:p>
          <a:p>
            <a:r>
              <a:rPr lang="en-IN" sz="2400" dirty="0"/>
              <a:t> b: They require less memory than an array to store the same data.</a:t>
            </a:r>
          </a:p>
          <a:p>
            <a:r>
              <a:rPr lang="en-IN" sz="2400" dirty="0"/>
              <a:t> c: We can easily traverse back to previous elements.</a:t>
            </a:r>
          </a:p>
          <a:p>
            <a:r>
              <a:rPr lang="en-IN" sz="2400" dirty="0"/>
              <a:t> d: None of the above.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4448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1" y="1321908"/>
            <a:ext cx="8137224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3. What is the time complexity for insertion of an element into linked list?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 a: O(1)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 b: O(log n)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 c: O(n)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 d: O(n^2)</a:t>
            </a:r>
          </a:p>
        </p:txBody>
      </p:sp>
    </p:spTree>
    <p:extLst>
      <p:ext uri="{BB962C8B-B14F-4D97-AF65-F5344CB8AC3E}">
        <p14:creationId xmlns:p14="http://schemas.microsoft.com/office/powerpoint/2010/main" val="48442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altLang="en-US" sz="3600" dirty="0"/>
              <a:t>Quiz Answers</a:t>
            </a:r>
            <a:endParaRPr lang="en-IN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1391546" y="1688573"/>
            <a:ext cx="3790054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Answer: b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Answer :a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Answer : c</a:t>
            </a:r>
            <a:endParaRPr lang="en-IN" sz="2400" b="1" dirty="0"/>
          </a:p>
          <a:p>
            <a:pPr>
              <a:lnSpc>
                <a:spcPct val="150000"/>
              </a:lnSpc>
            </a:pPr>
            <a:endParaRPr lang="en-IN" b="1" dirty="0"/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endParaRPr lang="en-IN" b="1" dirty="0"/>
          </a:p>
        </p:txBody>
      </p:sp>
      <p:sp>
        <p:nvSpPr>
          <p:cNvPr id="8" name="Rectangle 7"/>
          <p:cNvSpPr/>
          <p:nvPr/>
        </p:nvSpPr>
        <p:spPr>
          <a:xfrm>
            <a:off x="457200" y="4167664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https://questions.examside.com/past-years/gate/question/pconsider-the-problem-of-reversing-a-singly-linked-list-t-gate-cse-theory-of-computation-finite-automata-and-regular-language-zpfpkf4re1g8xuff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53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altLang="en-US" sz="3600" dirty="0"/>
              <a:t>Review</a:t>
            </a:r>
            <a:endParaRPr lang="en-IN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574" y="1219200"/>
            <a:ext cx="8229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Definition:</a:t>
            </a:r>
            <a:endParaRPr lang="en-US" sz="2400" dirty="0">
              <a:solidFill>
                <a:srgbClr val="FF0000"/>
              </a:solidFill>
            </a:endParaRPr>
          </a:p>
          <a:p>
            <a:pPr algn="just"/>
            <a:r>
              <a:rPr lang="en-US" sz="2400" dirty="0"/>
              <a:t>Singly linked list: linear structure with nodes containing data and pointers.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Components:</a:t>
            </a:r>
            <a:endParaRPr lang="en-US" sz="2400" dirty="0">
              <a:solidFill>
                <a:srgbClr val="FF0000"/>
              </a:solidFill>
            </a:endParaRPr>
          </a:p>
          <a:p>
            <a:pPr algn="just"/>
            <a:r>
              <a:rPr lang="en-US" sz="2400" dirty="0"/>
              <a:t>Nodes: data and next pointer.</a:t>
            </a:r>
          </a:p>
          <a:p>
            <a:pPr algn="just"/>
            <a:r>
              <a:rPr lang="en-US" sz="2400" dirty="0"/>
              <a:t>Head Pointer: points to first node.</a:t>
            </a:r>
          </a:p>
          <a:p>
            <a:pPr algn="just"/>
            <a:r>
              <a:rPr lang="en-US" sz="2400" dirty="0"/>
              <a:t>Tail Pointer: optional, points to last node.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Representation:</a:t>
            </a:r>
            <a:endParaRPr lang="en-US" sz="2400" dirty="0">
              <a:solidFill>
                <a:srgbClr val="FF0000"/>
              </a:solidFill>
            </a:endParaRPr>
          </a:p>
          <a:p>
            <a:pPr algn="just"/>
            <a:r>
              <a:rPr lang="en-US" sz="2400" dirty="0"/>
              <a:t>Nodes linked via pointers, dynamic memory allocation.</a:t>
            </a:r>
          </a:p>
          <a:p>
            <a:pPr algn="just"/>
            <a:r>
              <a:rPr lang="en-US" sz="2400" dirty="0"/>
              <a:t>Access via head pointer, traversal for manipulation.</a:t>
            </a:r>
          </a:p>
        </p:txBody>
      </p:sp>
    </p:spTree>
    <p:extLst>
      <p:ext uri="{BB962C8B-B14F-4D97-AF65-F5344CB8AC3E}">
        <p14:creationId xmlns:p14="http://schemas.microsoft.com/office/powerpoint/2010/main" val="330853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72008" y="1756092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8" y="53136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altLang="en-US" sz="3600" dirty="0"/>
              <a:t>Review</a:t>
            </a:r>
            <a:endParaRPr lang="en-IN" sz="36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574" y="1219200"/>
            <a:ext cx="82296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Advantages:</a:t>
            </a:r>
            <a:endParaRPr lang="en-US" sz="2400" dirty="0">
              <a:solidFill>
                <a:srgbClr val="FF0000"/>
              </a:solidFill>
            </a:endParaRPr>
          </a:p>
          <a:p>
            <a:pPr algn="just"/>
            <a:r>
              <a:rPr lang="en-US" sz="2400" dirty="0"/>
              <a:t>Efficient insertion/deletion.</a:t>
            </a:r>
          </a:p>
          <a:p>
            <a:pPr algn="just"/>
            <a:r>
              <a:rPr lang="en-US" sz="2400" dirty="0"/>
              <a:t>Dynamic size, flexibility.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Disadvantages:</a:t>
            </a:r>
            <a:endParaRPr lang="en-US" sz="2400" dirty="0">
              <a:solidFill>
                <a:srgbClr val="FF0000"/>
              </a:solidFill>
            </a:endParaRPr>
          </a:p>
          <a:p>
            <a:pPr algn="just"/>
            <a:r>
              <a:rPr lang="en-US" sz="2400" dirty="0"/>
              <a:t>No direct access, traversal needed.</a:t>
            </a:r>
          </a:p>
          <a:p>
            <a:pPr algn="just"/>
            <a:r>
              <a:rPr lang="en-US" sz="2400" dirty="0"/>
              <a:t>Higher memory overhead.</a:t>
            </a:r>
          </a:p>
          <a:p>
            <a:pPr algn="just"/>
            <a:r>
              <a:rPr lang="en-US" sz="2400" dirty="0"/>
              <a:t>Inefficient reverse traversal.</a:t>
            </a:r>
          </a:p>
          <a:p>
            <a:pPr algn="just">
              <a:lnSpc>
                <a:spcPct val="150000"/>
              </a:lnSpc>
            </a:pPr>
            <a:endParaRPr lang="en-IN" sz="2400" b="1" dirty="0"/>
          </a:p>
          <a:p>
            <a:pPr>
              <a:lnSpc>
                <a:spcPct val="150000"/>
              </a:lnSpc>
            </a:pPr>
            <a:endParaRPr lang="en-US" sz="2400" b="1" dirty="0"/>
          </a:p>
          <a:p>
            <a:pPr>
              <a:lnSpc>
                <a:spcPct val="150000"/>
              </a:lnSpc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0853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5478" y="787925"/>
            <a:ext cx="8751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u="sng" dirty="0"/>
          </a:p>
          <a:p>
            <a:r>
              <a:rPr lang="en-US" dirty="0"/>
              <a:t> </a:t>
            </a:r>
          </a:p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Ms.Suman           Data  Structure         Unit2 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55" t="10941" r="17352" b="16346"/>
          <a:stretch/>
        </p:blipFill>
        <p:spPr bwMode="auto">
          <a:xfrm>
            <a:off x="1056968" y="1629757"/>
            <a:ext cx="3510116" cy="214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778737"/>
            <a:ext cx="4948127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527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1672</Words>
  <Application>Microsoft Office PowerPoint</Application>
  <PresentationFormat>On-screen Show (4:3)</PresentationFormat>
  <Paragraphs>348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Ms. Suman</cp:lastModifiedBy>
  <cp:revision>7</cp:revision>
  <dcterms:created xsi:type="dcterms:W3CDTF">2024-05-23T07:30:35Z</dcterms:created>
  <dcterms:modified xsi:type="dcterms:W3CDTF">2024-06-19T06:23:07Z</dcterms:modified>
</cp:coreProperties>
</file>