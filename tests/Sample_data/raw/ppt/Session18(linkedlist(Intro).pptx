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9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92" r:id="rId24"/>
    <p:sldId id="279" r:id="rId25"/>
    <p:sldId id="280" r:id="rId26"/>
    <p:sldId id="293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4" r:id="rId36"/>
    <p:sldId id="289" r:id="rId37"/>
    <p:sldId id="290" r:id="rId38"/>
    <p:sldId id="296" r:id="rId39"/>
    <p:sldId id="295" r:id="rId40"/>
    <p:sldId id="291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4F4EF-A83F-4237-9C37-8CDCAB3BCDBE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B63CB-C4A4-4B76-9701-F077A91E1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4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 err="1"/>
              <a:t>Ms.Suman</a:t>
            </a:r>
            <a:r>
              <a:rPr lang="en-IN" dirty="0"/>
              <a:t>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2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81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0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57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8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6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8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3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3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2D8A6-29CE-4935-A348-3E4EC80963FD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C3631-DDA7-4C25-8A7D-4DB23A9E8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4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what-is-linked-list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W0xVdCg1n" TargetMode="Externa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zvW--MER5" TargetMode="Externa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m2WkbpYDQ" TargetMode="Externa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CDlrmZCMK9" TargetMode="Externa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838200"/>
            <a:ext cx="6396065" cy="92087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81400"/>
            <a:ext cx="839042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i="1" kern="1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Dr.Swati</a:t>
            </a:r>
            <a:r>
              <a:rPr lang="en-US" sz="2400" i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Ms.Suman &amp; Ms </a:t>
            </a:r>
            <a:r>
              <a:rPr lang="en-US" sz="2400" i="1" kern="1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Neetu</a:t>
            </a:r>
            <a:endParaRPr lang="en-US" sz="2400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SzPct val="25000"/>
            </a:pPr>
            <a:r>
              <a:rPr lang="en-US" sz="2400" i="1" kern="100" dirty="0">
                <a:cs typeface="Times New Roman" panose="02020603050405020304" pitchFamily="18" charset="0"/>
                <a:sym typeface="Arial"/>
              </a:rPr>
              <a:t> Assistant Professor </a:t>
            </a:r>
          </a:p>
          <a:p>
            <a:pPr lvl="0" algn="ctr">
              <a:buSzPct val="25000"/>
            </a:pPr>
            <a:r>
              <a:rPr lang="en-US" sz="2400" i="1" kern="100" dirty="0">
                <a:cs typeface="Times New Roman" panose="02020603050405020304" pitchFamily="18" charset="0"/>
                <a:sym typeface="Arial"/>
              </a:rPr>
              <a:t>School of Engineering &amp; Technology (SOET)</a:t>
            </a:r>
          </a:p>
          <a:p>
            <a:pPr lvl="0" algn="ctr">
              <a:buSzPct val="25000"/>
            </a:pPr>
            <a:r>
              <a:rPr lang="en-US" sz="2400" i="1" kern="100" dirty="0">
                <a:cs typeface="Times New Roman" panose="02020603050405020304" pitchFamily="18" charset="0"/>
                <a:sym typeface="Arial"/>
              </a:rPr>
              <a:t>K.R. MANGALAM University </a:t>
            </a:r>
            <a:endParaRPr lang="en-IN" sz="2400" i="1" dirty="0"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BDD341-9065-6500-56A4-3D760AE6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71" y="2102822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600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9D8B597-3B07-52D6-2F94-7B4B11AB3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53" y="2933819"/>
            <a:ext cx="84969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ENCS205</a:t>
            </a:r>
            <a:endParaRPr lang="en-IN" sz="24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257800"/>
            <a:ext cx="518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UNIT-2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</a:rPr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1027178239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b="1"/>
              <a:t>Sessions 18 </a:t>
            </a:r>
            <a:r>
              <a:rPr lang="en-US" sz="3600" b="1" dirty="0"/>
              <a:t>Outlook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752600"/>
            <a:ext cx="6172200" cy="3200400"/>
          </a:xfrm>
          <a:prstGeom prst="rect">
            <a:avLst/>
          </a:prstGeom>
        </p:spPr>
        <p:txBody>
          <a:bodyPr/>
          <a:lstStyle/>
          <a:p>
            <a:pPr lvl="0" rtl="0"/>
            <a:endParaRPr lang="en-IN" sz="2400" dirty="0"/>
          </a:p>
          <a:p>
            <a:pPr marL="800100" lvl="1" indent="-342900" rtl="0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400" dirty="0"/>
              <a:t>Linked List: Definition</a:t>
            </a:r>
            <a:endParaRPr lang="en-IN" sz="2400" dirty="0"/>
          </a:p>
          <a:p>
            <a:pPr marL="800100" lvl="1" indent="-342900" rtl="0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400" dirty="0"/>
              <a:t>Components of linked list</a:t>
            </a:r>
            <a:endParaRPr lang="en-IN" sz="2400" dirty="0"/>
          </a:p>
          <a:p>
            <a:pPr marL="800100" lvl="1" indent="-342900" rtl="0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400" dirty="0"/>
              <a:t>Representation</a:t>
            </a:r>
            <a:endParaRPr lang="en-IN" sz="2400" dirty="0"/>
          </a:p>
          <a:p>
            <a:pPr marL="800100" lvl="1" indent="-342900" rtl="0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400" dirty="0"/>
              <a:t>Advantages and Disadvantages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0295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92" y="1"/>
            <a:ext cx="9115879" cy="6858000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Ms.Suman           Data  Structure         Unit2  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293834"/>
            <a:ext cx="7973888" cy="4097369"/>
          </a:xfrm>
          <a:prstGeom prst="rect">
            <a:avLst/>
          </a:prstGeo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Students should be able to </a:t>
            </a:r>
            <a:r>
              <a:rPr lang="en-US" sz="2400" dirty="0">
                <a:solidFill>
                  <a:srgbClr val="FF0000"/>
                </a:solidFill>
              </a:rPr>
              <a:t>lean</a:t>
            </a:r>
            <a:r>
              <a:rPr lang="en-US" sz="2400" dirty="0"/>
              <a:t> about Dynamic data Structure.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</a:rPr>
              <a:t>   </a:t>
            </a:r>
            <a:r>
              <a:rPr lang="en-IN" sz="2400" dirty="0">
                <a:solidFill>
                  <a:srgbClr val="FF0000"/>
                </a:solidFill>
              </a:rPr>
              <a:t>Implementing </a:t>
            </a:r>
            <a:r>
              <a:rPr lang="en-IN" sz="2400" dirty="0"/>
              <a:t>algorithms for creating, inserting, deleting, searching, and displaying elements in various types of linked lists</a:t>
            </a:r>
            <a:r>
              <a:rPr lang="en-US" sz="24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Analyzing</a:t>
            </a:r>
            <a:r>
              <a:rPr lang="en-IN" sz="2400" dirty="0"/>
              <a:t> the complexities of algorithms for linked list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8" y="230451"/>
            <a:ext cx="716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Objective</a:t>
            </a:r>
            <a:r>
              <a:rPr lang="en-US" sz="2400" b="1" dirty="0"/>
              <a:t>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40826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427" y="28353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b="1" dirty="0">
                <a:solidFill>
                  <a:srgbClr val="FF0000"/>
                </a:solidFill>
              </a:rPr>
              <a:t>Pretest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520460" y="1153194"/>
            <a:ext cx="8431088" cy="2733006"/>
          </a:xfrm>
          <a:prstGeom prst="rect">
            <a:avLst/>
          </a:prstGeom>
        </p:spPr>
        <p:txBody>
          <a:bodyPr/>
          <a:lstStyle/>
          <a:p>
            <a:pPr lvl="0" rtl="0"/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000" b="1" dirty="0"/>
              <a:t>1. Which of these best describes an array?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a: A data structure that shows a hierarchical behaviour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b: Container of objects of similar types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c: Container of objects of mixed types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d: All of the mentioned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000" b="1" dirty="0"/>
              <a:t>2. What is the time complexity of insertion at any point in an array?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a: O(N)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b: O(N^2)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c: O(</a:t>
            </a:r>
            <a:r>
              <a:rPr lang="en-IN" sz="2000" dirty="0" err="1"/>
              <a:t>NLogN</a:t>
            </a:r>
            <a:r>
              <a:rPr lang="en-IN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d: None of these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5181600"/>
            <a:ext cx="1307153" cy="589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Option:a</a:t>
            </a:r>
            <a:endParaRPr lang="en-IN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553200" y="2753394"/>
            <a:ext cx="1319977" cy="589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Option:b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09422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828" y="-30480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4578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b="1" dirty="0">
                <a:solidFill>
                  <a:srgbClr val="FF0000"/>
                </a:solidFill>
              </a:rPr>
              <a:t>Pretest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-15816" y="990600"/>
            <a:ext cx="9159816" cy="2101170"/>
          </a:xfrm>
          <a:prstGeom prst="rect">
            <a:avLst/>
          </a:prstGeom>
        </p:spPr>
        <p:txBody>
          <a:bodyPr/>
          <a:lstStyle/>
          <a:p>
            <a:pPr lvl="0" rtl="0"/>
            <a:endParaRPr lang="en-IN" sz="2400" dirty="0"/>
          </a:p>
          <a:p>
            <a:pPr>
              <a:lnSpc>
                <a:spcPct val="150000"/>
              </a:lnSpc>
            </a:pPr>
            <a:r>
              <a:rPr lang="en-IN" b="1" dirty="0"/>
              <a:t>3</a:t>
            </a:r>
            <a:r>
              <a:rPr lang="en-IN" sz="2400" b="1" dirty="0"/>
              <a:t>. </a:t>
            </a:r>
            <a:r>
              <a:rPr lang="en-IN" sz="2000" b="1" dirty="0"/>
              <a:t>Pick incorrect options from the following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a: If structure contains 3 types of data then one pointer is sufficient for that structure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b: One variable can be bound to many structures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c: Contents of a structure are stored in contiguous memory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d: None of these</a:t>
            </a:r>
          </a:p>
          <a:p>
            <a:pPr>
              <a:lnSpc>
                <a:spcPct val="150000"/>
              </a:lnSpc>
            </a:pPr>
            <a:endParaRPr lang="en-IN" sz="2400" dirty="0"/>
          </a:p>
          <a:p>
            <a:r>
              <a:rPr lang="en-IN" sz="2400" b="1" dirty="0"/>
              <a:t>4. </a:t>
            </a:r>
            <a:r>
              <a:rPr lang="en-IN" sz="2000" b="1" dirty="0"/>
              <a:t>The memory occupied by a pointer _______</a:t>
            </a:r>
          </a:p>
          <a:p>
            <a:r>
              <a:rPr lang="en-IN" sz="2000" dirty="0"/>
              <a:t> a: Is dependent on which data type the pointer points to.</a:t>
            </a:r>
          </a:p>
          <a:p>
            <a:r>
              <a:rPr lang="en-IN" sz="2000" dirty="0"/>
              <a:t> b: Is independent of data type.</a:t>
            </a:r>
          </a:p>
          <a:p>
            <a:r>
              <a:rPr lang="en-IN" sz="2000" dirty="0"/>
              <a:t> c: Depends on the program we are writing,</a:t>
            </a:r>
          </a:p>
          <a:p>
            <a:r>
              <a:rPr lang="en-IN" sz="2000" dirty="0"/>
              <a:t> d: None of these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581400"/>
            <a:ext cx="1319977" cy="589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Option:b</a:t>
            </a:r>
            <a:endParaRPr lang="en-IN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934200" y="5486400"/>
            <a:ext cx="1319977" cy="589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Option:b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48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b="1" dirty="0">
                <a:solidFill>
                  <a:srgbClr val="FF0000"/>
                </a:solidFill>
              </a:rPr>
              <a:t>Link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Ms.Suman           Data  Structure         Unit2 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30450"/>
            <a:ext cx="7924799" cy="430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883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b="1" dirty="0">
                <a:solidFill>
                  <a:srgbClr val="FF0000"/>
                </a:solidFill>
              </a:rPr>
              <a:t>Link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293834"/>
            <a:ext cx="8077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Linked list  is  a series of connected nodes.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 node in the linked list contains two parts</a:t>
            </a:r>
          </a:p>
          <a:p>
            <a:pPr marL="800100" lvl="1" indent="-342900" algn="just">
              <a:buFont typeface="Wingdings" pitchFamily="2" charset="2"/>
              <a:buChar char="ü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first is the data part </a:t>
            </a:r>
          </a:p>
          <a:p>
            <a:pPr marL="800100" lvl="1" indent="-342900" algn="just">
              <a:buFont typeface="Wingdings" pitchFamily="2" charset="2"/>
              <a:buChar char="ü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second is the address part.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last node of the list contains a pointer to the null</a:t>
            </a:r>
            <a:endParaRPr lang="en-IN" sz="2400" dirty="0"/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86200"/>
            <a:ext cx="6629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685800" y="5410200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https://www.geeksforgeeks.org/what-is-linked-list/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20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5575" y="4578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b="1" dirty="0">
                <a:solidFill>
                  <a:srgbClr val="FF0000"/>
                </a:solidFill>
              </a:rPr>
              <a:t>Why Linked List?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293834"/>
            <a:ext cx="8077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IN" sz="2400" dirty="0"/>
              <a:t>Arrays can be used to store linear data of similar types, but arrays have the following limitations.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1) The size of the arrays is fixed: So we must know the upper limit on the number of elements in advance. Also, generally, the allocated memory is equal to the upper limit irrespective of the usage. </a:t>
            </a:r>
          </a:p>
          <a:p>
            <a:pPr algn="just"/>
            <a:r>
              <a:rPr lang="en-IN" sz="2400" dirty="0"/>
              <a:t>2) Inserting a new element in an array of elements is expensive because the room has to be created for the new elements and to create room existing elements have to be shifted.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06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5575" y="4578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b="1" dirty="0">
                <a:solidFill>
                  <a:srgbClr val="FF0000"/>
                </a:solidFill>
              </a:rPr>
              <a:t>For example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293834"/>
            <a:ext cx="8077200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In a system, if we maintain a sorted list of IDs in an array id[].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id[] = [1000, 1010, 1050, 2000, 2040].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And if we want to insert a new ID 1005, then to maintain the sorted order,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we have to move all the elements after 1000 (excluding 1000).Deletion is also expensive with arrays until unless some special techniques are used. For example, to delete 1010 in id[], everything after 1010 has to be moved.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44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5575" y="4578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>
                <a:solidFill>
                  <a:srgbClr val="FF0000"/>
                </a:solidFill>
              </a:rPr>
              <a:t>Representation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293834"/>
            <a:ext cx="8077200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A linked list is represented by a pointer to the first node of the linked list.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/>
              <a:t>The first node is called the head. If the linked list is empty, then the value of the head is NULL.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Each node in a list consists of at least two parts: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1) data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2) Pointer (Or Reference) to the next node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70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IN" sz="3200" dirty="0">
                <a:solidFill>
                  <a:srgbClr val="FF0000"/>
                </a:solidFill>
              </a:rPr>
              <a:t>Creation of Node and Declaration of Linked Lists</a:t>
            </a:r>
            <a:endParaRPr lang="en-IN" sz="3600" dirty="0">
              <a:solidFill>
                <a:srgbClr val="FF0000"/>
              </a:solidFill>
            </a:endParaRPr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914400" y="1480231"/>
            <a:ext cx="6858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err="1"/>
              <a:t>struct</a:t>
            </a:r>
            <a:r>
              <a:rPr lang="en-IN" sz="2400" dirty="0"/>
              <a:t> node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 </a:t>
            </a:r>
            <a:r>
              <a:rPr lang="en-IN" sz="2400" dirty="0" err="1"/>
              <a:t>int</a:t>
            </a:r>
            <a:r>
              <a:rPr lang="en-IN" sz="2400" dirty="0"/>
              <a:t> data;</a:t>
            </a:r>
          </a:p>
          <a:p>
            <a:r>
              <a:rPr lang="en-IN" sz="2400" dirty="0"/>
              <a:t> </a:t>
            </a:r>
            <a:r>
              <a:rPr lang="en-IN" sz="2400" dirty="0" err="1"/>
              <a:t>struct</a:t>
            </a:r>
            <a:r>
              <a:rPr lang="en-IN" sz="2400" dirty="0"/>
              <a:t> node * next;</a:t>
            </a:r>
          </a:p>
          <a:p>
            <a:r>
              <a:rPr lang="en-IN" sz="2400" dirty="0"/>
              <a:t>};</a:t>
            </a:r>
          </a:p>
          <a:p>
            <a:r>
              <a:rPr lang="en-IN" sz="2400" dirty="0" err="1"/>
              <a:t>struct</a:t>
            </a:r>
            <a:r>
              <a:rPr lang="en-IN" sz="2400" dirty="0"/>
              <a:t> node * n;</a:t>
            </a:r>
          </a:p>
          <a:p>
            <a:endParaRPr lang="en-IN" sz="2400" dirty="0"/>
          </a:p>
          <a:p>
            <a:r>
              <a:rPr lang="en-IN" sz="2400" dirty="0"/>
              <a:t>n=(</a:t>
            </a:r>
            <a:r>
              <a:rPr lang="en-IN" sz="2400" dirty="0" err="1"/>
              <a:t>struct</a:t>
            </a:r>
            <a:r>
              <a:rPr lang="en-IN" sz="2400" dirty="0"/>
              <a:t> node*)</a:t>
            </a:r>
            <a:r>
              <a:rPr lang="en-IN" sz="2400" dirty="0" err="1"/>
              <a:t>malloc</a:t>
            </a:r>
            <a:r>
              <a:rPr lang="en-IN" sz="2400" dirty="0"/>
              <a:t>(</a:t>
            </a:r>
            <a:r>
              <a:rPr lang="en-IN" sz="2400" dirty="0" err="1"/>
              <a:t>sizeof</a:t>
            </a:r>
            <a:r>
              <a:rPr lang="en-IN" sz="2400" dirty="0"/>
              <a:t>(</a:t>
            </a:r>
            <a:r>
              <a:rPr lang="en-IN" sz="2400" dirty="0" err="1"/>
              <a:t>struct</a:t>
            </a:r>
            <a:r>
              <a:rPr lang="en-IN" sz="2400" dirty="0"/>
              <a:t> node*));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4" r="17433" b="55410"/>
          <a:stretch/>
        </p:blipFill>
        <p:spPr bwMode="auto">
          <a:xfrm>
            <a:off x="5410200" y="1507843"/>
            <a:ext cx="3360718" cy="1371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084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IN" sz="3200" dirty="0">
                <a:solidFill>
                  <a:srgbClr val="FF0000"/>
                </a:solidFill>
              </a:rPr>
              <a:t>Applications </a:t>
            </a:r>
            <a:endParaRPr lang="en-IN" sz="3600" dirty="0">
              <a:solidFill>
                <a:srgbClr val="FF0000"/>
              </a:solidFill>
            </a:endParaRPr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286907"/>
            <a:ext cx="7500039" cy="463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518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</a:rPr>
              <a:t>Applications </a:t>
            </a:r>
            <a:endParaRPr lang="en-IN" sz="3600" dirty="0">
              <a:solidFill>
                <a:srgbClr val="FF0000"/>
              </a:solidFill>
            </a:endParaRPr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759768" y="1698069"/>
            <a:ext cx="6694397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Image viewer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Previous and next page in a web browser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Music Player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GPS navigation systems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Task Scheduling </a:t>
            </a:r>
            <a:r>
              <a:rPr lang="en-IN" dirty="0"/>
              <a:t> 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158" y="4038600"/>
            <a:ext cx="1951038" cy="195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224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Advantages And Disadvantages</a:t>
            </a:r>
            <a:endParaRPr lang="en-IN" sz="3200" dirty="0">
              <a:solidFill>
                <a:srgbClr val="FF0000"/>
              </a:solidFill>
            </a:endParaRPr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06435" y="1622796"/>
            <a:ext cx="3445430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chemeClr val="accent1"/>
                </a:solidFill>
                <a:cs typeface="Times New Roman" pitchFamily="18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cs typeface="Times New Roman" pitchFamily="18" charset="0"/>
              </a:rPr>
              <a:t>Dynamic data structure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Implementation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cs typeface="Times New Roman" pitchFamily="18" charset="0"/>
              </a:rPr>
              <a:t>Insertion and deletion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Versatility 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Persistence </a:t>
            </a:r>
          </a:p>
          <a:p>
            <a:pPr algn="just"/>
            <a:endParaRPr lang="en-IN" sz="2400" dirty="0"/>
          </a:p>
        </p:txBody>
      </p:sp>
      <p:sp>
        <p:nvSpPr>
          <p:cNvPr id="13" name="Rectangle 12"/>
          <p:cNvSpPr/>
          <p:nvPr/>
        </p:nvSpPr>
        <p:spPr>
          <a:xfrm>
            <a:off x="4566138" y="1637696"/>
            <a:ext cx="439248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Disadvantages</a:t>
            </a:r>
            <a:endParaRPr lang="en-IN" sz="2400" b="1" i="1" dirty="0">
              <a:solidFill>
                <a:schemeClr val="accent1"/>
              </a:solidFill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1" dirty="0">
                <a:cs typeface="Times New Roman" pitchFamily="18" charset="0"/>
              </a:rPr>
              <a:t>Memory usage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1" dirty="0"/>
              <a:t>Accessing an element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1" dirty="0"/>
              <a:t>More complex implementation 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1" dirty="0"/>
              <a:t>Lack of cache locality 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2973473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Importance of Linked List</a:t>
            </a:r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55575" y="1219200"/>
            <a:ext cx="88360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b="1" dirty="0"/>
              <a:t>Dynamic Data structure</a:t>
            </a:r>
            <a:endParaRPr lang="en-IN" sz="2400" dirty="0"/>
          </a:p>
          <a:p>
            <a:pPr marL="342900" indent="-34290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b="1" dirty="0"/>
              <a:t>Ease of Insertion/Deletion</a:t>
            </a:r>
            <a:r>
              <a:rPr lang="en-IN" sz="2400" dirty="0"/>
              <a:t>.</a:t>
            </a:r>
          </a:p>
          <a:p>
            <a:pPr marL="342900" indent="-34290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b="1" dirty="0"/>
              <a:t>Efficient Memory Utilization </a:t>
            </a:r>
          </a:p>
          <a:p>
            <a:pPr marL="342900" indent="-34290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b="1" dirty="0"/>
              <a:t>Implementation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8939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7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Linked List </a:t>
            </a:r>
            <a:r>
              <a:rPr lang="en-IN" sz="3600" dirty="0" err="1">
                <a:solidFill>
                  <a:srgbClr val="FF0000"/>
                </a:solidFill>
              </a:rPr>
              <a:t>vs</a:t>
            </a:r>
            <a:r>
              <a:rPr lang="en-IN" sz="3600" dirty="0">
                <a:solidFill>
                  <a:srgbClr val="FF0000"/>
                </a:solidFill>
              </a:rPr>
              <a:t> Array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701247"/>
              </p:ext>
            </p:extLst>
          </p:nvPr>
        </p:nvGraphicFramePr>
        <p:xfrm>
          <a:off x="381000" y="685800"/>
          <a:ext cx="8690992" cy="57531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345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5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178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dirty="0">
                          <a:solidFill>
                            <a:srgbClr val="FF0000"/>
                          </a:solidFill>
                          <a:effectLst/>
                        </a:rPr>
                        <a:t>Array</a:t>
                      </a:r>
                      <a:endParaRPr lang="en-IN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dirty="0">
                          <a:solidFill>
                            <a:srgbClr val="FF0000"/>
                          </a:solidFill>
                          <a:effectLst/>
                        </a:rPr>
                        <a:t>Linked List</a:t>
                      </a:r>
                      <a:endParaRPr lang="en-IN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085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</a:rPr>
                        <a:t>Arrays are stored in contiguous location.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</a:rPr>
                        <a:t>Linked Lists are not stored in contiguous location.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6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</a:rPr>
                        <a:t>Fixed size.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>
                          <a:effectLst/>
                        </a:rPr>
                        <a:t>Dynamic Size</a:t>
                      </a:r>
                      <a:endParaRPr lang="en-IN" sz="20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6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</a:rPr>
                        <a:t>Memory is allocated at compile time.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>
                          <a:effectLst/>
                        </a:rPr>
                        <a:t>Memory is allocated at run time.</a:t>
                      </a:r>
                      <a:endParaRPr lang="en-IN" sz="20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81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</a:rPr>
                        <a:t>Uses less memory than Linked Lists.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</a:rPr>
                        <a:t>Uses more memory than Arrays as it stores both data and address of next node.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581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</a:rPr>
                        <a:t>Elements can be accessed easily in O(1) time.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</a:rPr>
                        <a:t>Elements can be access by traversing through all the nodes till we reach the required node.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1085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</a:rPr>
                        <a:t>Insertion and deletion operation is slower than Linked List.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000" dirty="0">
                          <a:effectLst/>
                        </a:rPr>
                        <a:t>Insertion and deletion operation is faster than Linked List.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64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7" y="-145918"/>
            <a:ext cx="87510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200" dirty="0">
                <a:solidFill>
                  <a:srgbClr val="FF0000"/>
                </a:solidFill>
              </a:rPr>
              <a:t>Time Complexity Analysis of Linked List and Array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582792"/>
              </p:ext>
            </p:extLst>
          </p:nvPr>
        </p:nvGraphicFramePr>
        <p:xfrm>
          <a:off x="228600" y="1219200"/>
          <a:ext cx="8229600" cy="49149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dirty="0">
                          <a:effectLst/>
                        </a:rPr>
                        <a:t>Operation</a:t>
                      </a:r>
                      <a:endParaRPr lang="en-IN" sz="2400" b="1" dirty="0">
                        <a:effectLst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>
                          <a:effectLst/>
                        </a:rPr>
                        <a:t>Linked list</a:t>
                      </a:r>
                      <a:endParaRPr lang="en-IN" sz="2400" b="1">
                        <a:effectLst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>
                          <a:effectLst/>
                        </a:rPr>
                        <a:t>Array</a:t>
                      </a:r>
                      <a:endParaRPr lang="en-IN" sz="2400" b="1">
                        <a:effectLst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Random Access</a:t>
                      </a:r>
                      <a:endParaRPr lang="en-IN" sz="24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O(N)</a:t>
                      </a:r>
                      <a:endParaRPr lang="en-IN" sz="24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O(1)</a:t>
                      </a:r>
                      <a:endParaRPr lang="en-IN" sz="24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Insertion and deletion at beginning</a:t>
                      </a:r>
                      <a:endParaRPr lang="en-IN" sz="24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O(1)</a:t>
                      </a:r>
                      <a:endParaRPr lang="en-IN" sz="24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O(N)</a:t>
                      </a:r>
                      <a:endParaRPr lang="en-IN" sz="24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Insertion and deletion at end</a:t>
                      </a:r>
                      <a:endParaRPr lang="en-IN" sz="24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O(N)</a:t>
                      </a:r>
                      <a:endParaRPr lang="en-IN" sz="24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O(1)</a:t>
                      </a:r>
                      <a:endParaRPr lang="en-IN" sz="24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Insertion and deletion at a random position</a:t>
                      </a:r>
                      <a:endParaRPr lang="en-IN" sz="24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O(N)</a:t>
                      </a:r>
                      <a:endParaRPr lang="en-IN" sz="24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O(N)</a:t>
                      </a:r>
                      <a:endParaRPr lang="en-IN" sz="24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17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Operations</a:t>
            </a:r>
            <a:endParaRPr lang="en-US" sz="3200" b="1" dirty="0">
              <a:solidFill>
                <a:srgbClr val="FF0000"/>
              </a:solidFill>
            </a:endParaRPr>
          </a:p>
          <a:p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067799" cy="4978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82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IN" sz="3200" dirty="0">
                <a:solidFill>
                  <a:srgbClr val="FF0000"/>
                </a:solidFill>
              </a:rPr>
              <a:t>Traversal  </a:t>
            </a:r>
            <a:r>
              <a:rPr lang="en-US" sz="3200" dirty="0">
                <a:solidFill>
                  <a:srgbClr val="FF0000"/>
                </a:solidFill>
              </a:rPr>
              <a:t>Operations</a:t>
            </a:r>
            <a:endParaRPr lang="en-US" sz="3200" b="1" dirty="0">
              <a:solidFill>
                <a:srgbClr val="FF0000"/>
              </a:solidFill>
            </a:endParaRPr>
          </a:p>
          <a:p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1"/>
            <a:ext cx="8001000" cy="2057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5200"/>
            <a:ext cx="8153400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19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820" y="7937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Algorithm</a:t>
            </a:r>
            <a:endParaRPr lang="en-US" sz="3200" b="1" dirty="0">
              <a:solidFill>
                <a:srgbClr val="FF0000"/>
              </a:solidFill>
            </a:endParaRPr>
          </a:p>
          <a:p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97768" y="1133356"/>
            <a:ext cx="4572000" cy="57246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STEP 1:</a:t>
            </a:r>
            <a:r>
              <a:rPr lang="en-IN" sz="2000" dirty="0"/>
              <a:t> SET PTR = HEAD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STEP 2:</a:t>
            </a:r>
            <a:r>
              <a:rPr lang="en-IN" sz="2000" dirty="0"/>
              <a:t> IF PTR = NULL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   WRITE "EMPTY LIST"</a:t>
            </a:r>
            <a:br>
              <a:rPr lang="en-IN" sz="2000" dirty="0"/>
            </a:br>
            <a:r>
              <a:rPr lang="en-IN" sz="2000" dirty="0"/>
              <a:t>  GOTO STEP 7</a:t>
            </a:r>
            <a:br>
              <a:rPr lang="en-IN" sz="2000" dirty="0"/>
            </a:br>
            <a:r>
              <a:rPr lang="en-IN" sz="2000" dirty="0"/>
              <a:t>  END OF IF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STEP 4:</a:t>
            </a:r>
            <a:r>
              <a:rPr lang="en-IN" sz="2000" dirty="0"/>
              <a:t> REPEAT STEP 5 AND 6 UNTIL PTR != NULL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STEP 5:</a:t>
            </a:r>
            <a:r>
              <a:rPr lang="en-IN" sz="2000" dirty="0"/>
              <a:t> PRINT PTR→ DATA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STEP 6:</a:t>
            </a:r>
            <a:r>
              <a:rPr lang="en-IN" sz="2000" dirty="0"/>
              <a:t> PTR = PTR → NEXT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[END OF LOOP]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STEP 7:</a:t>
            </a:r>
            <a:r>
              <a:rPr lang="en-IN" sz="2000" dirty="0"/>
              <a:t> EXIT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495800" y="1414971"/>
            <a:ext cx="450546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Code for traversing  :</a:t>
            </a:r>
            <a:endParaRPr lang="en-I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dirty="0" err="1"/>
              <a:t>struct</a:t>
            </a:r>
            <a:r>
              <a:rPr lang="en-IN" sz="2000" dirty="0"/>
              <a:t> node *temp = head; </a:t>
            </a:r>
            <a:r>
              <a:rPr lang="en-IN" sz="2000" dirty="0" err="1"/>
              <a:t>printf</a:t>
            </a:r>
            <a:r>
              <a:rPr lang="en-IN" sz="2000" dirty="0"/>
              <a:t>("\n\</a:t>
            </a:r>
            <a:r>
              <a:rPr lang="en-IN" sz="2000" dirty="0" err="1"/>
              <a:t>nList</a:t>
            </a:r>
            <a:r>
              <a:rPr lang="en-IN" sz="2000" dirty="0"/>
              <a:t> elements are - \n");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while(temp != NULL) { </a:t>
            </a:r>
          </a:p>
          <a:p>
            <a:pPr>
              <a:lnSpc>
                <a:spcPct val="150000"/>
              </a:lnSpc>
            </a:pPr>
            <a:r>
              <a:rPr lang="en-IN" sz="2000" dirty="0" err="1"/>
              <a:t>printf</a:t>
            </a:r>
            <a:r>
              <a:rPr lang="en-IN" sz="2000" dirty="0"/>
              <a:t>("%d ---&gt;",temp-&gt;data);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temp = temp-&gt;next;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9768" y="4724400"/>
            <a:ext cx="4053257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53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Insertion Operations </a:t>
            </a:r>
            <a:r>
              <a:rPr lang="en-IN" sz="3600" dirty="0">
                <a:solidFill>
                  <a:srgbClr val="FF0000"/>
                </a:solidFill>
              </a:rPr>
              <a:t>At the beginning.</a:t>
            </a:r>
          </a:p>
          <a:p>
            <a:endParaRPr lang="en-US" sz="3600" dirty="0"/>
          </a:p>
          <a:p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83804" y="114574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 fontAlgn="base">
              <a:buFont typeface="Wingdings" pitchFamily="2" charset="2"/>
              <a:buChar char="Ø"/>
            </a:pPr>
            <a:r>
              <a:rPr lang="en-IN" sz="2400" dirty="0"/>
              <a:t>At the beginning.</a:t>
            </a:r>
          </a:p>
          <a:p>
            <a:pPr marL="342900" indent="-342900" algn="just" fontAlgn="base">
              <a:buFont typeface="Wingdings" pitchFamily="2" charset="2"/>
              <a:buChar char="Ø"/>
            </a:pPr>
            <a:r>
              <a:rPr lang="en-IN" sz="2400" dirty="0"/>
              <a:t>At the end.</a:t>
            </a:r>
          </a:p>
          <a:p>
            <a:pPr marL="342900" indent="-342900" algn="just" fontAlgn="base">
              <a:buFont typeface="Wingdings" pitchFamily="2" charset="2"/>
              <a:buChar char="Ø"/>
            </a:pPr>
            <a:r>
              <a:rPr lang="en-IN" sz="2400" dirty="0"/>
              <a:t>At Location node</a:t>
            </a:r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346070"/>
            <a:ext cx="8759825" cy="3749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388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Algorithm: Insert At Beginning</a:t>
            </a:r>
            <a:br>
              <a:rPr lang="en-US" sz="3600" dirty="0"/>
            </a:br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07974" y="1231007"/>
            <a:ext cx="5864225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</a:rPr>
              <a:t>Step 1: </a:t>
            </a:r>
            <a:r>
              <a:rPr lang="en-IN" sz="2400" dirty="0"/>
              <a:t>IF AVAIL = NULL 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Write OVERFLOW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 Go to Step 7 [END OF IF]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</a:rPr>
              <a:t>Step 2: </a:t>
            </a:r>
            <a:r>
              <a:rPr lang="en-IN" sz="2400" dirty="0"/>
              <a:t>SET NEW_NODE = AVAIL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</a:rPr>
              <a:t>Step 3: </a:t>
            </a:r>
            <a:r>
              <a:rPr lang="en-IN" sz="2400" dirty="0"/>
              <a:t>SET AVAIL = AVAIL -&gt; NEXT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</a:rPr>
              <a:t> Step 4: </a:t>
            </a:r>
            <a:r>
              <a:rPr lang="en-IN" sz="2400" dirty="0"/>
              <a:t>SET NEW_NODE -&gt; DATA = VAL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</a:rPr>
              <a:t>Step 5: </a:t>
            </a:r>
            <a:r>
              <a:rPr lang="en-IN" sz="2400" dirty="0"/>
              <a:t>SET NEW_NODE -&gt; NEXT = HEAD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</a:rPr>
              <a:t>Step 6: </a:t>
            </a:r>
            <a:r>
              <a:rPr lang="en-IN" sz="2400" dirty="0"/>
              <a:t>SET HEAD = NEW_NODE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</a:rPr>
              <a:t>Step 7: </a:t>
            </a:r>
            <a:r>
              <a:rPr lang="en-IN" sz="2400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43516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Code for node insertion </a:t>
            </a:r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72032" y="1219686"/>
            <a:ext cx="821025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fontAlgn="base"/>
            <a:r>
              <a:rPr lang="en-US" sz="2400" dirty="0"/>
              <a:t>void </a:t>
            </a:r>
            <a:r>
              <a:rPr lang="en-US" sz="2400" dirty="0" err="1"/>
              <a:t>LinkedList</a:t>
            </a:r>
            <a:r>
              <a:rPr lang="en-US" sz="2400" dirty="0"/>
              <a:t>::</a:t>
            </a:r>
            <a:r>
              <a:rPr lang="en-US" sz="2400" dirty="0" err="1"/>
              <a:t>insertFront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data){</a:t>
            </a:r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    Node* </a:t>
            </a:r>
            <a:r>
              <a:rPr lang="en-US" sz="2400" dirty="0" err="1"/>
              <a:t>new_node</a:t>
            </a:r>
            <a:r>
              <a:rPr lang="en-US" sz="2400" dirty="0"/>
              <a:t> = new Node();</a:t>
            </a:r>
          </a:p>
          <a:p>
            <a:pPr fontAlgn="base"/>
            <a:r>
              <a:rPr lang="en-US" sz="2400" dirty="0"/>
              <a:t>    </a:t>
            </a:r>
          </a:p>
          <a:p>
            <a:pPr fontAlgn="base"/>
            <a:r>
              <a:rPr lang="en-US" sz="2400" dirty="0"/>
              <a:t>    // assign data value</a:t>
            </a:r>
          </a:p>
          <a:p>
            <a:pPr fontAlgn="base"/>
            <a:r>
              <a:rPr lang="en-US" sz="2400" dirty="0"/>
              <a:t>    </a:t>
            </a:r>
            <a:r>
              <a:rPr lang="en-US" sz="2400" dirty="0" err="1"/>
              <a:t>new_node</a:t>
            </a:r>
            <a:r>
              <a:rPr lang="en-US" sz="2400" dirty="0"/>
              <a:t>-&gt;data = data;</a:t>
            </a:r>
          </a:p>
          <a:p>
            <a:pPr fontAlgn="base"/>
            <a:r>
              <a:rPr lang="en-US" sz="2400" dirty="0"/>
              <a:t>    // change the next node of this </a:t>
            </a:r>
            <a:r>
              <a:rPr lang="en-US" sz="2400" dirty="0" err="1"/>
              <a:t>new_node</a:t>
            </a:r>
            <a:r>
              <a:rPr lang="en-US" sz="2400" dirty="0"/>
              <a:t> </a:t>
            </a:r>
          </a:p>
          <a:p>
            <a:pPr fontAlgn="base"/>
            <a:r>
              <a:rPr lang="en-US" sz="2400" dirty="0"/>
              <a:t>    // to current head of Linked List</a:t>
            </a:r>
          </a:p>
          <a:p>
            <a:pPr fontAlgn="base"/>
            <a:r>
              <a:rPr lang="en-US" sz="2400" dirty="0"/>
              <a:t>    </a:t>
            </a:r>
            <a:r>
              <a:rPr lang="en-US" sz="2400" dirty="0" err="1"/>
              <a:t>new_node</a:t>
            </a:r>
            <a:r>
              <a:rPr lang="en-US" sz="2400" dirty="0"/>
              <a:t>-&gt;next = head;</a:t>
            </a:r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    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5105400" y="5939988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476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Inserting at the End</a:t>
            </a:r>
            <a:br>
              <a:rPr lang="en-IN" sz="3600" dirty="0"/>
            </a:br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81" y="1447800"/>
            <a:ext cx="8576444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575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Algorithm: Insert At End</a:t>
            </a:r>
            <a:br>
              <a:rPr lang="en-IN" sz="3600" dirty="0"/>
            </a:br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0" y="990600"/>
            <a:ext cx="8836025" cy="4729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1: </a:t>
            </a:r>
            <a:r>
              <a:rPr lang="en-IN" sz="2400" dirty="0"/>
              <a:t>IF AVAIL = NULL  </a:t>
            </a:r>
          </a:p>
          <a:p>
            <a:pPr marL="800100" lvl="2" indent="0" algn="just">
              <a:buNone/>
            </a:pPr>
            <a:r>
              <a:rPr lang="en-IN" dirty="0"/>
              <a:t>Write OVERFLOW </a:t>
            </a:r>
          </a:p>
          <a:p>
            <a:pPr marL="0" indent="0" algn="just">
              <a:buNone/>
            </a:pPr>
            <a:r>
              <a:rPr lang="en-IN" sz="2400" dirty="0"/>
              <a:t>        Go to Step 10 [END OF IF]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2: </a:t>
            </a:r>
            <a:r>
              <a:rPr lang="en-IN" sz="2400" dirty="0"/>
              <a:t>SET NEW_NODE = AVAIL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 Step 3: </a:t>
            </a:r>
            <a:r>
              <a:rPr lang="en-IN" sz="2400" dirty="0"/>
              <a:t>SET AVAIL = AVAIL -&gt; NEXT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4: </a:t>
            </a:r>
            <a:r>
              <a:rPr lang="en-IN" sz="2400" dirty="0"/>
              <a:t>SET NEW_NODE -&gt; DATA = VAL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5: </a:t>
            </a:r>
            <a:r>
              <a:rPr lang="en-IN" sz="2400" dirty="0"/>
              <a:t>SET NEW_NODE -&gt; NEXT = NULL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6: </a:t>
            </a:r>
            <a:r>
              <a:rPr lang="en-IN" sz="2400" dirty="0"/>
              <a:t>SET PTR = HEAD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7: </a:t>
            </a:r>
            <a:r>
              <a:rPr lang="en-IN" sz="2400" dirty="0"/>
              <a:t>Repeat Step 8 while PTR -&gt; NEXT != NULL Step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8: </a:t>
            </a:r>
            <a:r>
              <a:rPr lang="en-IN" sz="2400" dirty="0"/>
              <a:t>SET PTR = PTR -&gt; NEXT [END OF LOOP]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9: </a:t>
            </a:r>
            <a:r>
              <a:rPr lang="en-IN" sz="2400" dirty="0"/>
              <a:t>SET PTR -&gt; NEXT = NEW_NODE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10: </a:t>
            </a:r>
            <a:r>
              <a:rPr lang="en-IN" sz="2400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06682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Code</a:t>
            </a:r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Ms.Suman</a:t>
            </a:r>
            <a:r>
              <a:rPr lang="en-IN" dirty="0"/>
              <a:t>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73126" y="1219200"/>
            <a:ext cx="8836025" cy="4729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0" y="5454134"/>
            <a:ext cx="3477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92161" y="1371600"/>
            <a:ext cx="618484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void </a:t>
            </a:r>
            <a:r>
              <a:rPr lang="en-US" sz="1600" dirty="0" err="1"/>
              <a:t>LinkedList</a:t>
            </a:r>
            <a:r>
              <a:rPr lang="en-US" sz="1600" dirty="0"/>
              <a:t>::</a:t>
            </a:r>
            <a:r>
              <a:rPr lang="en-US" sz="1600" dirty="0" err="1"/>
              <a:t>insertLast</a:t>
            </a:r>
            <a:r>
              <a:rPr lang="en-US" sz="1600" dirty="0"/>
              <a:t>(</a:t>
            </a:r>
            <a:r>
              <a:rPr lang="en-US" sz="1600" dirty="0" err="1"/>
              <a:t>int</a:t>
            </a:r>
            <a:r>
              <a:rPr lang="en-US" sz="1600" dirty="0"/>
              <a:t> data)</a:t>
            </a:r>
          </a:p>
          <a:p>
            <a:r>
              <a:rPr lang="en-US" sz="1600" dirty="0"/>
              <a:t>{</a:t>
            </a:r>
            <a:endParaRPr lang="en-US" sz="1400" dirty="0"/>
          </a:p>
          <a:p>
            <a:r>
              <a:rPr lang="en-US" sz="1400" dirty="0"/>
              <a:t>    Node* </a:t>
            </a:r>
            <a:r>
              <a:rPr lang="en-US" sz="1400" dirty="0" err="1"/>
              <a:t>freshNode</a:t>
            </a:r>
            <a:r>
              <a:rPr lang="en-US" sz="1400" dirty="0"/>
              <a:t> = new Node();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freshNode</a:t>
            </a:r>
            <a:r>
              <a:rPr lang="en-US" sz="1400" dirty="0"/>
              <a:t>-&gt;data = data;</a:t>
            </a:r>
          </a:p>
          <a:p>
            <a:r>
              <a:rPr lang="en-US" sz="1400" dirty="0"/>
              <a:t>    // since this will be the last node so it will point to NULL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freshNode</a:t>
            </a:r>
            <a:r>
              <a:rPr lang="en-US" sz="1400" dirty="0"/>
              <a:t>-&gt;next = NULL;</a:t>
            </a:r>
          </a:p>
          <a:p>
            <a:endParaRPr lang="en-US" sz="1400" dirty="0"/>
          </a:p>
          <a:p>
            <a:r>
              <a:rPr lang="en-US" sz="1400" dirty="0">
                <a:solidFill>
                  <a:schemeClr val="accent1"/>
                </a:solidFill>
              </a:rPr>
              <a:t>    //need this if there is no node present in linked list at all</a:t>
            </a:r>
          </a:p>
          <a:p>
            <a:r>
              <a:rPr lang="en-US" sz="1400" dirty="0"/>
              <a:t>    if(head==NULL)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  head = </a:t>
            </a:r>
            <a:r>
              <a:rPr lang="en-US" sz="1400" dirty="0" err="1"/>
              <a:t>freshNode</a:t>
            </a:r>
            <a:r>
              <a:rPr lang="en-US" sz="1400" dirty="0"/>
              <a:t>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cout</a:t>
            </a:r>
            <a:r>
              <a:rPr lang="en-US" sz="1400" dirty="0"/>
              <a:t> &lt;&lt; </a:t>
            </a:r>
            <a:r>
              <a:rPr lang="en-US" sz="1400" dirty="0" err="1"/>
              <a:t>freshNode</a:t>
            </a:r>
            <a:r>
              <a:rPr lang="en-US" sz="1400" dirty="0"/>
              <a:t>-&gt;data &lt;&lt; " inserted" &lt;&lt; </a:t>
            </a:r>
            <a:r>
              <a:rPr lang="en-US" sz="1400" dirty="0" err="1"/>
              <a:t>endl</a:t>
            </a:r>
            <a:r>
              <a:rPr lang="en-US" sz="1400" dirty="0"/>
              <a:t>; </a:t>
            </a:r>
          </a:p>
          <a:p>
            <a:r>
              <a:rPr lang="en-US" sz="1400" dirty="0"/>
              <a:t>        return; </a:t>
            </a:r>
          </a:p>
          <a:p>
            <a:r>
              <a:rPr lang="en-US" sz="1400" dirty="0"/>
              <a:t>    }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struct</a:t>
            </a:r>
            <a:r>
              <a:rPr lang="en-US" sz="1400" dirty="0"/>
              <a:t> Node* temp = head; </a:t>
            </a:r>
          </a:p>
          <a:p>
            <a:r>
              <a:rPr lang="en-US" sz="1400" dirty="0"/>
              <a:t>    // traverse to the last node of Linked List </a:t>
            </a:r>
          </a:p>
          <a:p>
            <a:r>
              <a:rPr lang="en-US" sz="1400" dirty="0"/>
              <a:t>    while(temp-&gt;next!=NULL)</a:t>
            </a:r>
          </a:p>
          <a:p>
            <a:r>
              <a:rPr lang="en-US" sz="1400" dirty="0"/>
              <a:t>        temp = temp-&gt;next;</a:t>
            </a:r>
          </a:p>
          <a:p>
            <a:r>
              <a:rPr lang="en-US" sz="1400" dirty="0"/>
              <a:t>    // assign last node's next to this </a:t>
            </a:r>
            <a:r>
              <a:rPr lang="en-US" sz="1400" dirty="0" err="1"/>
              <a:t>freshNode</a:t>
            </a:r>
            <a:endParaRPr lang="en-US" sz="1400" dirty="0"/>
          </a:p>
          <a:p>
            <a:r>
              <a:rPr lang="en-US" sz="1400" dirty="0"/>
              <a:t>    temp-&gt;next = </a:t>
            </a:r>
            <a:r>
              <a:rPr lang="en-US" sz="1400" dirty="0" err="1"/>
              <a:t>freshNode</a:t>
            </a:r>
            <a:r>
              <a:rPr lang="en-US" sz="1400" dirty="0"/>
              <a:t>;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cout</a:t>
            </a:r>
            <a:r>
              <a:rPr lang="en-US" sz="1400" dirty="0"/>
              <a:t> &lt;&lt; </a:t>
            </a:r>
            <a:r>
              <a:rPr lang="en-US" sz="1400" dirty="0" err="1"/>
              <a:t>freshNode</a:t>
            </a:r>
            <a:r>
              <a:rPr lang="en-US" sz="1400" dirty="0"/>
              <a:t>-&gt;data &lt;&lt; " inserted" &lt;&lt; </a:t>
            </a:r>
            <a:r>
              <a:rPr lang="en-US" sz="1400" dirty="0" err="1"/>
              <a:t>endl</a:t>
            </a:r>
            <a:r>
              <a:rPr lang="en-US" sz="1400" dirty="0"/>
              <a:t>;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102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Insert a Node after a given Node in a Linked list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5" y="1219200"/>
            <a:ext cx="8732023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833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Insert After An Element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3" name="Content Placeholder 1"/>
          <p:cNvSpPr txBox="1">
            <a:spLocks/>
          </p:cNvSpPr>
          <p:nvPr/>
        </p:nvSpPr>
        <p:spPr>
          <a:xfrm>
            <a:off x="332715" y="1219200"/>
            <a:ext cx="8658883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</a:t>
            </a:r>
            <a:r>
              <a:rPr lang="en-IN" sz="2000" dirty="0">
                <a:solidFill>
                  <a:srgbClr val="FF0000"/>
                </a:solidFill>
              </a:rPr>
              <a:t>tep 1: </a:t>
            </a:r>
            <a:r>
              <a:rPr lang="en-IN" sz="2000" dirty="0"/>
              <a:t>IF AVAIL = NULL Write OVERFLOW Go to Step 12 [END OF IF]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2: </a:t>
            </a:r>
            <a:r>
              <a:rPr lang="en-IN" sz="2000" dirty="0"/>
              <a:t>SET NEW_NODE = AVAIL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3: </a:t>
            </a:r>
            <a:r>
              <a:rPr lang="en-IN" sz="2000" dirty="0"/>
              <a:t>SET AVAIL = AVAIL -&gt; NEXT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4: </a:t>
            </a:r>
            <a:r>
              <a:rPr lang="en-IN" sz="2000" dirty="0"/>
              <a:t>SET NEW_NODE -&gt; DATA = VAL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/>
              <a:t> </a:t>
            </a:r>
            <a:r>
              <a:rPr lang="en-IN" sz="2000" dirty="0">
                <a:solidFill>
                  <a:srgbClr val="FF0000"/>
                </a:solidFill>
              </a:rPr>
              <a:t>Step 5: </a:t>
            </a:r>
            <a:r>
              <a:rPr lang="en-IN" sz="2000" dirty="0"/>
              <a:t>SET PTR = HEAD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6: </a:t>
            </a:r>
            <a:r>
              <a:rPr lang="en-IN" sz="2000" dirty="0"/>
              <a:t>SET PREPTR = PTR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/>
              <a:t> </a:t>
            </a:r>
            <a:r>
              <a:rPr lang="en-IN" sz="2000" dirty="0">
                <a:solidFill>
                  <a:srgbClr val="FF0000"/>
                </a:solidFill>
              </a:rPr>
              <a:t>Step 7: </a:t>
            </a:r>
            <a:r>
              <a:rPr lang="en-IN" sz="2000" dirty="0"/>
              <a:t>Repeat Steps 8 and 9 while PREPTR -&gt; DATA != NUM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8: </a:t>
            </a:r>
            <a:r>
              <a:rPr lang="en-IN" sz="2000" dirty="0"/>
              <a:t>SET PREPTR = PTR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 Step 9: </a:t>
            </a:r>
            <a:r>
              <a:rPr lang="en-IN" sz="2000" dirty="0"/>
              <a:t>SET PTR = PTR -&gt; NEXT [END OF LOOP]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10 : </a:t>
            </a:r>
            <a:r>
              <a:rPr lang="en-IN" sz="2000" dirty="0"/>
              <a:t>PREPTR -&gt; NEXT = NEW_NODE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11: </a:t>
            </a:r>
            <a:r>
              <a:rPr lang="en-IN" sz="2000" dirty="0"/>
              <a:t>SET NEW_NODE -&gt; NEXT = PTR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12: </a:t>
            </a:r>
            <a:r>
              <a:rPr lang="en-IN" sz="2000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417523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Deleting First  Elements from a Linked List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97768" y="1219200"/>
            <a:ext cx="65840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buFont typeface="Wingdings" pitchFamily="2" charset="2"/>
              <a:buChar char="Ø"/>
            </a:pPr>
            <a:r>
              <a:rPr lang="en-IN" sz="2400" dirty="0"/>
              <a:t>The first node is deleted.</a:t>
            </a:r>
          </a:p>
          <a:p>
            <a:pPr marL="342900" indent="-342900" algn="just" fontAlgn="base">
              <a:buFont typeface="Wingdings" pitchFamily="2" charset="2"/>
              <a:buChar char="Ø"/>
            </a:pPr>
            <a:r>
              <a:rPr lang="en-IN" sz="2400" dirty="0"/>
              <a:t>The last node is deleted.</a:t>
            </a:r>
          </a:p>
          <a:p>
            <a:pPr marL="342900" indent="-342900" algn="just" fontAlgn="base">
              <a:buFont typeface="Wingdings" pitchFamily="2" charset="2"/>
              <a:buChar char="Ø"/>
            </a:pPr>
            <a:r>
              <a:rPr lang="en-IN" sz="2400" dirty="0"/>
              <a:t>The node after a given node is deleted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68" y="2514600"/>
            <a:ext cx="8489032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204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Delete From Beginning</a:t>
            </a:r>
            <a:br>
              <a:rPr lang="en-IN" sz="3600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1: </a:t>
            </a:r>
            <a:r>
              <a:rPr lang="en-IN" sz="2400" dirty="0"/>
              <a:t>IF HEAD = NULL </a:t>
            </a:r>
          </a:p>
          <a:p>
            <a:pPr marL="0" indent="0">
              <a:buNone/>
            </a:pPr>
            <a:r>
              <a:rPr lang="en-IN" sz="2400" dirty="0"/>
              <a:t>Write UNDERFLOW </a:t>
            </a:r>
          </a:p>
          <a:p>
            <a:pPr marL="0" indent="0">
              <a:buNone/>
            </a:pPr>
            <a:r>
              <a:rPr lang="en-IN" sz="2400" dirty="0"/>
              <a:t>Go to Step 5 [END OF IF]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2: </a:t>
            </a:r>
            <a:r>
              <a:rPr lang="en-IN" sz="2400" dirty="0"/>
              <a:t>SET PTR = HEAD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3: </a:t>
            </a:r>
            <a:r>
              <a:rPr lang="en-IN" sz="2400" dirty="0"/>
              <a:t>SET HEAD = HEAD -&gt; NEXT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4: </a:t>
            </a:r>
            <a:r>
              <a:rPr lang="en-IN" sz="2400" dirty="0"/>
              <a:t>FREE PTR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 Step 5: </a:t>
            </a:r>
            <a:r>
              <a:rPr lang="en-IN" sz="2400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78707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Delete last Node from a Linked list</a:t>
            </a:r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78" y="1295400"/>
            <a:ext cx="86296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744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Algorithm: Delete From End</a:t>
            </a:r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3" name="Content Placeholder 1"/>
          <p:cNvSpPr txBox="1">
            <a:spLocks/>
          </p:cNvSpPr>
          <p:nvPr/>
        </p:nvSpPr>
        <p:spPr>
          <a:xfrm>
            <a:off x="307975" y="1307392"/>
            <a:ext cx="8229600" cy="4755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1: </a:t>
            </a:r>
            <a:r>
              <a:rPr lang="en-IN" sz="2400" dirty="0"/>
              <a:t>IF HEAD = NULL Write UNDERFLOW Go to Step 8 [END OF IF]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2: </a:t>
            </a:r>
            <a:r>
              <a:rPr lang="en-IN" sz="2400" dirty="0"/>
              <a:t>SET PTR = HEAD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3: </a:t>
            </a:r>
            <a:r>
              <a:rPr lang="en-IN" sz="2400" dirty="0"/>
              <a:t>Repeat Steps 4 and 5 while PTR -&gt; NEXT != NULL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4: </a:t>
            </a:r>
            <a:r>
              <a:rPr lang="en-IN" sz="2400" dirty="0"/>
              <a:t>SET PREPTR = PTR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5:</a:t>
            </a:r>
            <a:r>
              <a:rPr lang="en-IN" sz="2400" dirty="0"/>
              <a:t> SET PTR = PTR -&gt; NEXT [END OF LOOP]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6: </a:t>
            </a:r>
            <a:r>
              <a:rPr lang="en-IN" sz="2400" dirty="0"/>
              <a:t>SET PREPTR -&gt; NEXT = NULL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7: </a:t>
            </a:r>
            <a:r>
              <a:rPr lang="en-IN" sz="2400" dirty="0"/>
              <a:t>FREE PTR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Step 8: </a:t>
            </a:r>
            <a:r>
              <a:rPr lang="en-IN" sz="2400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307288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91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Delete the Node after a given Node</a:t>
            </a:r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29" y="1219200"/>
            <a:ext cx="835342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722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Delete After A Node</a:t>
            </a:r>
            <a:br>
              <a:rPr lang="en-IN" sz="3600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307975" y="1143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IN" sz="2400" dirty="0"/>
              <a:t>Step 1: IF HEAD = NULL Write UNDERFLOW Go to Step 10 [END OF IF]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2: SET PTR = HEAD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3: SET PREPTR = PTR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4: Repeat Steps 5 and 6 while PREPTR -&gt; DATA != NUM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5: SET PREPTR = PTR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6: SET PTR = PTR -&gt; NEXT [END OF LOOP]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7: SET TEMP = PTR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8: SET PREPTR -&gt; NEXT = PTR -&gt; NEXT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 Step 9: FREE TEMP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10 : EXIT</a:t>
            </a:r>
          </a:p>
        </p:txBody>
      </p:sp>
    </p:spTree>
    <p:extLst>
      <p:ext uri="{BB962C8B-B14F-4D97-AF65-F5344CB8AC3E}">
        <p14:creationId xmlns:p14="http://schemas.microsoft.com/office/powerpoint/2010/main" val="427545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Code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72009" y="1143000"/>
            <a:ext cx="6709792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    void del(node *</a:t>
            </a:r>
            <a:r>
              <a:rPr lang="en-US" sz="2000" dirty="0" err="1"/>
              <a:t>before_del</a:t>
            </a:r>
            <a:r>
              <a:rPr lang="en-US" sz="20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    if (</a:t>
            </a:r>
            <a:r>
              <a:rPr lang="en-US" sz="2000" dirty="0" err="1"/>
              <a:t>before_del</a:t>
            </a:r>
            <a:r>
              <a:rPr lang="en-US" sz="2000" dirty="0"/>
              <a:t> == NULL || </a:t>
            </a:r>
            <a:r>
              <a:rPr lang="en-US" sz="2000" dirty="0" err="1"/>
              <a:t>before_del</a:t>
            </a:r>
            <a:r>
              <a:rPr lang="en-US" sz="2000" dirty="0"/>
              <a:t>-&gt;next == NULL)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        return;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    node* temp = </a:t>
            </a:r>
            <a:r>
              <a:rPr lang="en-US" sz="2000" dirty="0" err="1"/>
              <a:t>before_del</a:t>
            </a:r>
            <a:r>
              <a:rPr lang="en-US" sz="2000" dirty="0"/>
              <a:t>-&gt;next;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    </a:t>
            </a:r>
            <a:r>
              <a:rPr lang="en-US" sz="2000" dirty="0" err="1"/>
              <a:t>before_del</a:t>
            </a:r>
            <a:r>
              <a:rPr lang="en-US" sz="2000" dirty="0"/>
              <a:t>-&gt;next = temp-&gt;next;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    delete temp;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}</a:t>
            </a:r>
            <a:endParaRPr lang="en-I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4722243"/>
            <a:ext cx="3276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39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91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Search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60374" y="1295400"/>
            <a:ext cx="6778625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IN" sz="2400" dirty="0">
                <a:solidFill>
                  <a:schemeClr val="accent1"/>
                </a:solidFill>
              </a:rPr>
              <a:t>Algorithm</a:t>
            </a:r>
            <a:r>
              <a:rPr lang="en-IN" sz="2400" dirty="0"/>
              <a:t>: </a:t>
            </a:r>
          </a:p>
          <a:p>
            <a:pPr algn="just" fontAlgn="base">
              <a:lnSpc>
                <a:spcPct val="15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1: [INITIALIZE] SET PTR = HEAD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2: Repeat Steps 3 and 4 while PTR != NULL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Step 3: If ITEM = PTR -&gt; DATA SET POS = PTR Go To Step 5 ELSE SET PTR = PTR -&gt; NEXT [END OF IF] [END OF LOOP]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4: SET POS = NULL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5: EXIT</a:t>
            </a:r>
          </a:p>
        </p:txBody>
      </p:sp>
    </p:spTree>
    <p:extLst>
      <p:ext uri="{BB962C8B-B14F-4D97-AF65-F5344CB8AC3E}">
        <p14:creationId xmlns:p14="http://schemas.microsoft.com/office/powerpoint/2010/main" val="244064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91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Search</a:t>
            </a:r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2" descr="Search an Element in a Linked List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1" t="4088" r="1992" b="5754"/>
          <a:stretch/>
        </p:blipFill>
        <p:spPr bwMode="auto">
          <a:xfrm>
            <a:off x="307974" y="1275906"/>
            <a:ext cx="8655273" cy="4731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652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91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Review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2" descr="Search an Element in a Linked List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32571" y="1061448"/>
            <a:ext cx="83788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Linked List: Definition</a:t>
            </a:r>
            <a:endParaRPr lang="en-US" sz="24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400" dirty="0"/>
              <a:t>Linear data structure composed of nodes.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Each node contains data and a pointer/reference to the next node.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Components of linked list</a:t>
            </a:r>
            <a:endParaRPr lang="en-US" sz="24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400" dirty="0"/>
              <a:t>Nodes: Elements containing data and pointers.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Head pointer: Points to the first node.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Tail pointer (optional): Points to the last node.</a:t>
            </a:r>
          </a:p>
        </p:txBody>
      </p:sp>
    </p:spTree>
    <p:extLst>
      <p:ext uri="{BB962C8B-B14F-4D97-AF65-F5344CB8AC3E}">
        <p14:creationId xmlns:p14="http://schemas.microsoft.com/office/powerpoint/2010/main" val="389273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91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Review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2" descr="Search an Element in a Linked List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228600" y="1295400"/>
            <a:ext cx="83788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Representation</a:t>
            </a:r>
            <a:endParaRPr lang="en-US" sz="2400" dirty="0">
              <a:solidFill>
                <a:srgbClr val="FF0000"/>
              </a:solidFill>
            </a:endParaRPr>
          </a:p>
          <a:p>
            <a:pPr algn="just"/>
            <a:r>
              <a:rPr lang="en-US" sz="2400" dirty="0"/>
              <a:t>Nodes linked via pointers.</a:t>
            </a:r>
          </a:p>
          <a:p>
            <a:pPr algn="just"/>
            <a:r>
              <a:rPr lang="en-US" sz="2400" dirty="0"/>
              <a:t>Dynamic memory allocation for nodes.</a:t>
            </a:r>
          </a:p>
          <a:p>
            <a:pPr algn="just"/>
            <a:r>
              <a:rPr lang="en-US" sz="2400" dirty="0"/>
              <a:t>Head pointer for access.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Advantages and Disadvantages</a:t>
            </a:r>
            <a:endParaRPr lang="en-US" sz="2400" dirty="0">
              <a:solidFill>
                <a:srgbClr val="FF0000"/>
              </a:solidFill>
            </a:endParaRPr>
          </a:p>
          <a:p>
            <a:pPr lvl="1"/>
            <a:r>
              <a:rPr lang="en-US" sz="2400" dirty="0"/>
              <a:t>Dynamic memory allocation.</a:t>
            </a:r>
          </a:p>
          <a:p>
            <a:pPr lvl="1"/>
            <a:r>
              <a:rPr lang="en-US" sz="2400" dirty="0"/>
              <a:t>Efficient insertion/deletion.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Disadvantages:</a:t>
            </a:r>
          </a:p>
          <a:p>
            <a:pPr lvl="1"/>
            <a:r>
              <a:rPr lang="en-US" sz="2400" dirty="0"/>
              <a:t>Higher memory overhead.</a:t>
            </a:r>
          </a:p>
          <a:p>
            <a:pPr lvl="1"/>
            <a:r>
              <a:rPr lang="en-US" sz="2400" dirty="0"/>
              <a:t>No direct access to elements.</a:t>
            </a:r>
          </a:p>
          <a:p>
            <a:pPr lvl="1"/>
            <a:r>
              <a:rPr lang="en-US" sz="2400" dirty="0"/>
              <a:t>Potentially slower access than arrays.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3630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55" t="10941" r="17352" b="16346"/>
          <a:stretch/>
        </p:blipFill>
        <p:spPr bwMode="auto">
          <a:xfrm>
            <a:off x="1056968" y="1629757"/>
            <a:ext cx="3510116" cy="214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778737"/>
            <a:ext cx="4948127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326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2993</Words>
  <Application>Microsoft Office PowerPoint</Application>
  <PresentationFormat>On-screen Show (4:3)</PresentationFormat>
  <Paragraphs>540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Ms. Suman</cp:lastModifiedBy>
  <cp:revision>12</cp:revision>
  <dcterms:created xsi:type="dcterms:W3CDTF">2024-05-23T06:27:57Z</dcterms:created>
  <dcterms:modified xsi:type="dcterms:W3CDTF">2024-06-19T03:43:19Z</dcterms:modified>
</cp:coreProperties>
</file>